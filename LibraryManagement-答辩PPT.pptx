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ffd74d9974bc2" /><Relationship Type="http://schemas.openxmlformats.org/officeDocument/2006/relationships/extended-properties" Target="/docProps/app.xml" Id="Rb8bd53e4df6c4ce5" /><Relationship Type="http://schemas.openxmlformats.org/officeDocument/2006/relationships/officeDocument" Target="/ppt/presentation.xml" Id="Rff4419f5d932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54d8d9cf6a40d8"/>
  </p:sldMasterIdLst>
  <p:notesMasterIdLst>
    <p:notesMasterId xmlns:r="http://schemas.openxmlformats.org/officeDocument/2006/relationships" r:id="Rc69f68385df34260"/>
  </p:notesMasterIdLst>
  <p:sldIdLst>
    <p:sldId xmlns:r="http://schemas.openxmlformats.org/officeDocument/2006/relationships" id="256" r:id="Rfcba17fce83c477c"/>
    <p:sldId xmlns:r="http://schemas.openxmlformats.org/officeDocument/2006/relationships" id="257" r:id="R760172b7efe4410c"/>
    <p:sldId xmlns:r="http://schemas.openxmlformats.org/officeDocument/2006/relationships" id="258" r:id="R7905c54e1d3f45fe"/>
    <p:sldId xmlns:r="http://schemas.openxmlformats.org/officeDocument/2006/relationships" id="259" r:id="Re7b52922eafb4583"/>
    <p:sldId xmlns:r="http://schemas.openxmlformats.org/officeDocument/2006/relationships" id="260" r:id="Rc181ccb837244225"/>
    <p:sldId xmlns:r="http://schemas.openxmlformats.org/officeDocument/2006/relationships" id="261" r:id="R4f0fdf8b8d784d16"/>
    <p:sldId xmlns:r="http://schemas.openxmlformats.org/officeDocument/2006/relationships" id="262" r:id="R8014b650c5d4466a"/>
    <p:sldId xmlns:r="http://schemas.openxmlformats.org/officeDocument/2006/relationships" id="263" r:id="R55217dff3b7841ba"/>
    <p:sldId xmlns:r="http://schemas.openxmlformats.org/officeDocument/2006/relationships" id="264" r:id="Rca16c8f8d07e4921"/>
    <p:sldId xmlns:r="http://schemas.openxmlformats.org/officeDocument/2006/relationships" id="265" r:id="R75c17f62fdd44398"/>
    <p:sldId xmlns:r="http://schemas.openxmlformats.org/officeDocument/2006/relationships" id="266" r:id="R710c1dfd1f9a43f6"/>
    <p:sldId xmlns:r="http://schemas.openxmlformats.org/officeDocument/2006/relationships" id="267" r:id="R58304a85e2174e02"/>
    <p:sldId xmlns:r="http://schemas.openxmlformats.org/officeDocument/2006/relationships" id="268" r:id="R5bb1e653985548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26234d66734941" /><Relationship Type="http://schemas.openxmlformats.org/officeDocument/2006/relationships/slideMaster" Target="/ppt/slideMasters/slideMaster1.xml" Id="R3d54d8d9cf6a40d8" /><Relationship Type="http://schemas.openxmlformats.org/officeDocument/2006/relationships/notesMaster" Target="/ppt/notesMasters/notesMaster1.xml" Id="Rc69f68385df34260" /><Relationship Type="http://schemas.openxmlformats.org/officeDocument/2006/relationships/presProps" Target="/ppt/presProps.xml" Id="R854059ec85a74185" /><Relationship Type="http://schemas.openxmlformats.org/officeDocument/2006/relationships/tableStyles" Target="/ppt/tableStyles.xml" Id="Ra0e373b793454141" /><Relationship Type="http://schemas.openxmlformats.org/officeDocument/2006/relationships/slide" Target="/ppt/slides/slide1.xml" Id="Rfcba17fce83c477c" /><Relationship Type="http://schemas.openxmlformats.org/officeDocument/2006/relationships/slide" Target="/ppt/slides/slide2.xml" Id="R760172b7efe4410c" /><Relationship Type="http://schemas.openxmlformats.org/officeDocument/2006/relationships/slide" Target="/ppt/slides/slide3.xml" Id="R7905c54e1d3f45fe" /><Relationship Type="http://schemas.openxmlformats.org/officeDocument/2006/relationships/slide" Target="/ppt/slides/slide4.xml" Id="Re7b52922eafb4583" /><Relationship Type="http://schemas.openxmlformats.org/officeDocument/2006/relationships/slide" Target="/ppt/slides/slide5.xml" Id="Rc181ccb837244225" /><Relationship Type="http://schemas.openxmlformats.org/officeDocument/2006/relationships/slide" Target="/ppt/slides/slide6.xml" Id="R4f0fdf8b8d784d16" /><Relationship Type="http://schemas.openxmlformats.org/officeDocument/2006/relationships/slide" Target="/ppt/slides/slide7.xml" Id="R8014b650c5d4466a" /><Relationship Type="http://schemas.openxmlformats.org/officeDocument/2006/relationships/slide" Target="/ppt/slides/slide8.xml" Id="R55217dff3b7841ba" /><Relationship Type="http://schemas.openxmlformats.org/officeDocument/2006/relationships/slide" Target="/ppt/slides/slide9.xml" Id="Rca16c8f8d07e4921" /><Relationship Type="http://schemas.openxmlformats.org/officeDocument/2006/relationships/slide" Target="/ppt/slides/slide10.xml" Id="R75c17f62fdd44398" /><Relationship Type="http://schemas.openxmlformats.org/officeDocument/2006/relationships/slide" Target="/ppt/slides/slide11.xml" Id="R710c1dfd1f9a43f6" /><Relationship Type="http://schemas.openxmlformats.org/officeDocument/2006/relationships/slide" Target="/ppt/slides/slide12.xml" Id="R58304a85e2174e02" /><Relationship Type="http://schemas.openxmlformats.org/officeDocument/2006/relationships/slide" Target="/ppt/slides/slide13.xml" Id="R5bb1e6539855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5ec1f715e64f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0b2a9a8a294725" /><Relationship Type="http://schemas.openxmlformats.org/officeDocument/2006/relationships/notesMaster" Target="/ppt/notesMasters/notesMaster1.xml" Id="R577138f089c24f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0280ce3f7426f" /><Relationship Type="http://schemas.openxmlformats.org/officeDocument/2006/relationships/notesMaster" Target="/ppt/notesMasters/notesMaster1.xml" Id="R60149c59bbfc4b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35cce27e66426b" /><Relationship Type="http://schemas.openxmlformats.org/officeDocument/2006/relationships/notesMaster" Target="/ppt/notesMasters/notesMaster1.xml" Id="Reb98e244780148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ab654375d044c9" /><Relationship Type="http://schemas.openxmlformats.org/officeDocument/2006/relationships/notesMaster" Target="/ppt/notesMasters/notesMaster1.xml" Id="Rd505296989bb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efa54929fb4fc3" /><Relationship Type="http://schemas.openxmlformats.org/officeDocument/2006/relationships/notesMaster" Target="/ppt/notesMasters/notesMaster1.xml" Id="R1d1a942009a44e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6d8eef53c4ce9" /><Relationship Type="http://schemas.openxmlformats.org/officeDocument/2006/relationships/notesMaster" Target="/ppt/notesMasters/notesMaster1.xml" Id="Rca512958e4e74c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159a02dc49458c" /><Relationship Type="http://schemas.openxmlformats.org/officeDocument/2006/relationships/notesMaster" Target="/ppt/notesMasters/notesMaster1.xml" Id="R06113cfff2fc46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855dc8f12a4ea7" /><Relationship Type="http://schemas.openxmlformats.org/officeDocument/2006/relationships/notesMaster" Target="/ppt/notesMasters/notesMaster1.xml" Id="R2cab4080c7a048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f4ce8e48254e87" /><Relationship Type="http://schemas.openxmlformats.org/officeDocument/2006/relationships/notesMaster" Target="/ppt/notesMasters/notesMaster1.xml" Id="Rdbe817ac7a7843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5b9f4861974c49" /><Relationship Type="http://schemas.openxmlformats.org/officeDocument/2006/relationships/notesMaster" Target="/ppt/notesMasters/notesMaster1.xml" Id="R65f4bd39e7dc4f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b3c5af8d434ff9" /><Relationship Type="http://schemas.openxmlformats.org/officeDocument/2006/relationships/notesMaster" Target="/ppt/notesMasters/notesMaster1.xml" Id="R5ff4ad6fafcb4f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c9f6e674ab4fea" /><Relationship Type="http://schemas.openxmlformats.org/officeDocument/2006/relationships/notesMaster" Target="/ppt/notesMasters/notesMaster1.xml" Id="Rf69af7eacd4847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5fa46a18854b2a" /><Relationship Type="http://schemas.openxmlformats.org/officeDocument/2006/relationships/notesMaster" Target="/ppt/notesMasters/notesMaster1.xml" Id="Rd1ad80bc09fe4b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 开场：用一句话说明作品不是单纯的 CRUD，而是把图书、读者、借阅和 AI 服务串成一条完整业务链。随后介绍今天的汇报结构：问题、设计、实现、演示与分工。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A：先讲背景，再提出答辩主线。强调系统解决的是流程协同和数据可追踪，而不只是界面展示。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A：概括产品闭环。每个闭环都对应后面的一个演示动作，让评委知道我们展示的是一套完整系统。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A：展示产品地图，明确管理员和读者共同使用一套系统，但通过角色权限看到不同动作。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B：讲技术架构。重点说明三层后端结构和 Maven 多模块拆分如何支持三人协作；不逐行读代码，突出职责边界。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C：讲数据库。先指出六张核心表，再强调 borrow_record 是业务核心；借书和还书不是单表写入，而是记录与库存同步变化。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B：演示或讲解借阅流程。重点回答评委可能追问的并发与一致性：服务层使用事务，库存更新失败会抛出业务异常。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B：讲安全。用三层模型说明不是只在前端隐藏按钮，后端接口也有角色注解和拦截器保护。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C：展示 AI。读者账号演示推荐，管理员账号演示运营建议，并说明后端统一封装 DeepSeek 调用，失败时不会把异常直接暴露给用户。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C：回应实训方案。把课程里的前端、MySQL、Java、AI、Maven 和项目实战，逐项映射到作品中的具体实现。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A 负责开场和登录，成员 B 负责借阅主链路，成员 C 负责统计与 AI。每个人操作前先说场景，操作后用一句话解释背后的实现。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三人共同讲：每位成员负责一条从设计到实现再到演示的完整链路。答辩时避免重复讲同一个模块，交接时用一句话说明下一位要回答的问题。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 C 收束：回到开场的目标，说明系统已经跑通主要业务闭环，并给出自然的扩展方向。然后三位成员共同进入提问环节。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6ffa2278b47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76dfa9e70a4b2a" /><Relationship Type="http://schemas.openxmlformats.org/officeDocument/2006/relationships/slideLayout" Target="/ppt/slideLayouts/slideLayout1.xml" Id="R0151d45590a6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1d45590a6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78ac529274cd1" /><Relationship Type="http://schemas.openxmlformats.org/officeDocument/2006/relationships/notesSlide" Target="/ppt/notesSlides/notesSlide1.xml" Id="Rb6177bc4b351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cd65d1ae44dcd" /><Relationship Type="http://schemas.openxmlformats.org/officeDocument/2006/relationships/notesSlide" Target="/ppt/notesSlides/notesSlide2.xml" Id="Rc2200864e34a4c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766e2ba8a4f1b" /><Relationship Type="http://schemas.openxmlformats.org/officeDocument/2006/relationships/notesSlide" Target="/ppt/notesSlides/notesSlide3.xml" Id="Raa54aa42d37a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5dd104a8b4008" /><Relationship Type="http://schemas.openxmlformats.org/officeDocument/2006/relationships/notesSlide" Target="/ppt/notesSlides/notesSlide4.xml" Id="R4c1cb491b6154b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1d6a56a3e4b13" /><Relationship Type="http://schemas.openxmlformats.org/officeDocument/2006/relationships/notesSlide" Target="/ppt/notesSlides/notesSlide5.xml" Id="Rd3d40af389b84b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305adbd174073" /><Relationship Type="http://schemas.openxmlformats.org/officeDocument/2006/relationships/notesSlide" Target="/ppt/notesSlides/notesSlide6.xml" Id="Reff78566abfd48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64cc30d4043fa" /><Relationship Type="http://schemas.openxmlformats.org/officeDocument/2006/relationships/notesSlide" Target="/ppt/notesSlides/notesSlide7.xml" Id="Rf0207c63aabb42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b94d162404ef5" /><Relationship Type="http://schemas.openxmlformats.org/officeDocument/2006/relationships/notesSlide" Target="/ppt/notesSlides/notesSlide8.xml" Id="Re8d3ccf6546748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2db85cf6a4af8" /><Relationship Type="http://schemas.openxmlformats.org/officeDocument/2006/relationships/notesSlide" Target="/ppt/notesSlides/notesSlide9.xml" Id="Rc01c15d8238c45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edcf23954d0c" /><Relationship Type="http://schemas.openxmlformats.org/officeDocument/2006/relationships/notesSlide" Target="/ppt/notesSlides/notesSlide10.xml" Id="Rf60cf15cd50a44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008c3769a4ce2" /><Relationship Type="http://schemas.openxmlformats.org/officeDocument/2006/relationships/notesSlide" Target="/ppt/notesSlides/notesSlide11.xml" Id="R9c47b4a935c14d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b682f9263463f" /><Relationship Type="http://schemas.openxmlformats.org/officeDocument/2006/relationships/notesSlide" Target="/ppt/notesSlides/notesSlide12.xml" Id="R5040a71a30994e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3cb08f07c40c3" /><Relationship Type="http://schemas.openxmlformats.org/officeDocument/2006/relationships/notesSlide" Target="/ppt/notesSlides/notesSlide13.xml" Id="Rff777bc3718747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BE616-27D3-4757-80CC-E69129F3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40005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32929-86E8-4525-A7AE-E8A5D970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90625"/>
            <a:ext cx="24765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A8EBA-610C-4244-AC0E-FF146D7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95375"/>
            <a:ext cx="385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8A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D0A88-4D6B-482D-A7D7-58388282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24000"/>
            <a:ext cx="33337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8A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13133-0012-45EA-9F04-55C50BB6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280987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8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CFA51-BBFE-451C-9825-7FF3C3E7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90750"/>
            <a:ext cx="22860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8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724C5-4042-471E-A950-3272243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24125"/>
            <a:ext cx="1762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8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E88AD-932F-4D4E-9587-AA64A7B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9A5B-4FD0-4123-AFAD-FCF9BDD2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4EB5D-199F-4DCB-8F2F-A087BF46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763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CD5E5-047E-4E62-8C1E-C5D330B4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90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69F8D-2756-4E35-8852-5397DAD8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1E6B5-FFF1-4BA4-9CFE-E71E954A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C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C9FF"/>
                </a:solidFill>
                <a:latin typeface="Microsoft YaHei"/>
                <a:ea typeface="Microsoft YaHei"/>
                <a:cs typeface="Microsoft YaHei"/>
              </a:rPr>
              <a:t>实训项目答辩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F7052-6648-4D11-A7F2-B827EE06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Library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3389A-3CA7-4266-A3E4-C833EE22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DE8FF"/>
                </a:solidFill>
                <a:latin typeface="Microsoft YaHei"/>
                <a:ea typeface="Microsoft YaHei"/>
                <a:cs typeface="Microsoft YaHei"/>
              </a:rPr>
              <a:t>图书管理系统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676CD-2D0E-4332-9F22-4CC49809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7C8DA"/>
                </a:solidFill>
                <a:latin typeface="Microsoft YaHei"/>
                <a:ea typeface="Microsoft YaHei"/>
                <a:cs typeface="Microsoft YaHei"/>
              </a:rPr>
              <a:t>让图书、读者与借阅流程，在一个可追踪的系统里高效协同。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7BAF4-486E-4703-8C43-37A96892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8CCC4-6792-4C29-A178-0B41AD11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C3849-8A29-44A2-A702-1BBD9D19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3340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5AD81-FA86-4843-8113-C8D53528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34000"/>
            <a:ext cx="7143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5A78A-03C7-49D5-B1CA-8EA511DC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62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A8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FA8C2"/>
                </a:solidFill>
                <a:latin typeface="Microsoft YaHei"/>
                <a:ea typeface="Microsoft YaHei"/>
                <a:cs typeface="Microsoft YaHei"/>
              </a:rPr>
              <a:t>三人小组 · 数据专业 · 2026</a:t>
            </a:r>
          </a:p>
        </p:txBody>
      </p:sp>
    </p:spTree>
    <p:extLst>
      <p:ext uri="{BB962C8B-B14F-4D97-AF65-F5344CB8AC3E}">
        <p14:creationId xmlns:p14="http://schemas.microsoft.com/office/powerpoint/2010/main" val="18845795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CCA6B-DE87-4C5F-A997-FAD27206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01 · WHY THIS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E3913-DBE6-484E-8555-4DE6FFE4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我们要解决的不是“录入图书”，而是管理一条完整借阅链路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24FE6-2960-47F9-9D29-365CF175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C0623-C6E1-4BFF-BC88-D5D2AE00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93C1F-7E45-4A3B-BA04-FB01663A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传统管理中，书目、读者和借阅记录容易分散在表格、纸质登记和口头沟通里。系统的价值，是把每一步变成可查询、可校验、可追踪的业务数据。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BA9A3-0010-4D47-84B6-F4C2D14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3EC54-5B9C-4A80-98E4-9EB56B3D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9E254-D001-494D-9F34-85077CB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8B560-29D0-4FC8-A04F-31AF2E2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信息分散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F8B8B-52E2-4053-8455-A171EEA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书目、读者、公告与借阅记录缺少统一入口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C1F32-153B-48CC-B772-E6FC797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143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BDE5A-E23E-4BF6-97E0-A21269A6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FB00D-B89F-46B1-81FB-30692216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C2EF1-27F0-42CD-9D48-A6745A2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规则难追踪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2E946-8EE5-4577-AD5F-AD001738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19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库存、借阅上限、归还状态需要系统自动校验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D433E-2CEE-4785-8091-B4B55FF6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3143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24198-7DD5-4A4B-9760-753B8EE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7083A-0AEE-4740-AEAC-211B1F6D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6289F-007D-4F93-9BF4-3E557739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48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服务不智能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2F76C-ECB2-4129-AEDB-870899FC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196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读者找书和管理员分析运营，缺少辅助决策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86A32-BF26-4C42-96C6-99397BDE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项目目标：做一个能真实跑通“登录 → 查书 → 借阅 → 归还 → 统计 → AI 辅助”的前后端分离系统。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FDEEE-0C80-4F87-989C-B89813E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5A27-0C8E-4722-93AA-CD2E367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592480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F79CAF-0E37-4CBC-8D18-52F11671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02 · WHAT WE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B92A9-2816-4E57-8F14-60F370E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从业务对象到可运行产品，系统形成了四个闭环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804FA-6E1E-49F4-9484-E7452C24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76AF6-43DF-4BAE-8B88-B52301DB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9839F-8614-48D4-9AEC-9899C50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953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27F09-8D5F-45C1-B22B-CF1F8D69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28139-7FF4-4777-B8CC-389C52FD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28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EF90B-2A40-4EEB-BB56-0200A4A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38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统一身份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598DC-DC90-4737-A9E4-2D6608D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98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管理员与读者登录后进入不同权限视图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3B4ED-2788-452C-A24F-08FC9B99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ADMIN / READER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76FAC-530C-4499-A2A2-FFDA0239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62125"/>
            <a:ext cx="4953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EDEB1-EB40-4F7C-8B9C-E980376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90EA3-AE69-425A-ADCE-F824A4BA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0B793-6ECC-4386-899A-B9640F3C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资源管理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66F7F-4741-49EE-A2AE-FEDA01C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982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图书、分类、读者、公告集中管理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15A93-7240-44A7-827B-7E741C45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CRUD + 分页查询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108CA-9495-4DD8-9F06-EFCE8B3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949BF-13E1-43C7-A363-63C988C1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3E9BA-45C1-408F-9AD2-F45E7464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BF2FD-CC2E-46D1-958F-7F7FC3DA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借阅流转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FD4CB-70EB-44B3-B5C3-A6C8A53E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624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库存变化与借阅记录同步更新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343EB4-A3E2-46B4-A026-F87E1F6C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67275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借出 / 归还 / 逾期状态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819E6-2420-4739-B9ED-E582A7FC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4953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F91EA-3C11-464D-8950-5AB4A8A3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B171E-0A9D-45A3-97C3-1285051B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6582F-412A-4E25-9924-052C6D3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909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智能辅助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9170F-4334-49A9-9FBD-5C6A4A8B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624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读者推荐与管理员运营建议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F1E0B-64ED-432F-93E3-8EDE60E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67275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DeepSeek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C28D8-5424-40EF-8E7C-C5BA3F6E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11CA2-2E50-487F-AC4B-D0B97AAB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1334089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0F2F36-9A2D-405C-8378-8425B865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03 · PRODUCT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034EF-3E30-4F11-9B5D-46FB073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一个入口，覆盖管理员、读者和借阅业务的主要动作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BB0CE-6AB5-4C18-B356-8269EDF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13D0C-E0AA-4B7D-99E1-97E6349C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941DE-C9E2-44AA-98F1-68CE08A7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143250" cy="36004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702D-407A-40F9-AFD7-4D05660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02451-D7F6-4A33-906D-2C817AB6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登录后按角色加载可见功能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FC512-6F05-4B7A-BACF-9E14C9C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23C36-77C1-48D8-862C-1F5C27B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E1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FE1C2"/>
                </a:solidFill>
                <a:latin typeface="Microsoft YaHei"/>
                <a:ea typeface="Microsoft YaHei"/>
                <a:cs typeface="Microsoft YaHei"/>
              </a:rPr>
              <a:t>READER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D794D-B4F7-409F-A95B-0E1B308B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38F4C-DFB9-461F-8E9B-7F5BFCB1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76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首页仪表盘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CB531-2607-4903-A19B-4022394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62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总量与运营概览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B886E-4F18-4541-B11A-A166CD65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F2D82-D2C9-4FF0-AADF-4DC1C3D3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76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图书管理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3C750-C760-42F7-B69B-2CDD5061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62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检索、分页、新增、编辑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4C9F2-3A4E-4F46-B725-9987701E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8C9411-11B1-4F41-B0FA-2808D06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分类 / 读者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CF493-2E94-4E7B-9074-951FF47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基础数据维护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AE232-1D01-41F4-8BB2-ED90388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33675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929E2-0865-45C2-AC7E-B59E0BDF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公告管理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07CF4-0EFE-440C-A31C-4ADE35E0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62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发布与查看通知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B3F9D-E338-452F-8F89-1ACD2522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4A480-F0C5-4FD4-85E8-9CD9B0C2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6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借阅管理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F1AE6-78BD-4045-8F41-4EB268F7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62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借出、归还、记录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DBF36-2FA9-4F2E-BBEF-5FD8149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4957E-5B6F-4FBD-A47C-0082E413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76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13159-7CD4-47BC-A7FE-4838EA4D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62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按分类汇总库存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88D12-8948-4212-BA0E-C818A0CC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33925"/>
            <a:ext cx="27622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813737-9FF2-47AA-BA54-4F7BF3CD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76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咨询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ED84C-A76C-4E04-919F-287BA4BA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62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推荐 / 运营建议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7308E-6DD8-48D1-9A1A-C073BBB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7CA3EB-471C-496F-9C5F-2407A71E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692231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8F5CAA-52F2-402C-AE77-7AA8B260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04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5F422-98CA-4679-B536-3A5E1072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前后端分离，让页面、业务规则和数据访问各自清晰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C4D5-D495-4D30-A325-BACEA38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E74BD-5217-47DF-9455-60BCE85F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2BDD6-98F5-46BA-A97B-BB3C185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6858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725F5-4F16-48AD-AEF7-C0D6C925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1619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5DE57-7A80-4244-96CA-130125C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14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1993A-45EC-4622-93D7-8EFBD75E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145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Vue 3 · Element Plus · Axios · Vue 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6DDC8-AC64-45BD-AED2-A1FA390D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9BCE0-0369-4654-A2F4-A8275C63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527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4AA2C-E3C4-4305-A36C-B0EF1D44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6858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78D96-DC99-4A5B-9442-8EBC0C6E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1619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5CFA9-CD60-43FB-9205-B98C57CA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/ 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19743-6468-449A-80A5-EC2D38D2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14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Spring Boot · JWT · AuthInterceptor · RequireRole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B8056-88B7-4105-B46B-90BA984B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C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8B613-E05A-418F-BEF6-BED5ADD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528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087BC-DEE2-4298-89E7-7E89241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6858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385FB-E874-464F-BF18-F5BAC2A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619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8A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4EF02-E629-42CA-864B-2187FE61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2CED1-F54F-4745-9F89-CF2ACAE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147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Controller · Service · Transactional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590BF-5C1B-4448-8834-B1621482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C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19C72-A951-41D2-AEA6-1D45F966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A56F85-6B2E-40DA-90E9-4356AE5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6858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30462-5042-46B7-A61F-4F8898F7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1619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27C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B8270-0936-4C2C-9D3A-4BA30E25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A12C8-3EA0-40D1-8FC7-A8829B4F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1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MyBatis · MySQL 8 · 6 core tables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4B6A3-1D3E-45E8-90CF-7143720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476500" cy="2571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7A9A6-31B4-4EB3-B2D9-E647E81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Maven 多模块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63C917-F049-4B8A-8754-A82D8F5E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43200"/>
            <a:ext cx="16668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D4436-ED63-479F-A28F-5DB55B07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432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E8FF"/>
                </a:solidFill>
                <a:latin typeface="Microsoft YaHei"/>
                <a:ea typeface="Microsoft YaHei"/>
                <a:cs typeface="Microsoft YaHei"/>
              </a:rPr>
              <a:t>common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ED3CEE-9D3C-44B1-A67E-A09BAAD1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00400"/>
            <a:ext cx="16668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828BF7-E5D0-425F-96F0-4A10BA94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004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E8FF"/>
                </a:solidFill>
                <a:latin typeface="Microsoft YaHei"/>
                <a:ea typeface="Microsoft YaHei"/>
                <a:cs typeface="Microsoft YaHei"/>
              </a:rPr>
              <a:t>pojo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8E1EC-1C71-475C-8B33-A7E7B2D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57600"/>
            <a:ext cx="16668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D1C444-28A3-4A79-A93F-F0F22D45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57600"/>
            <a:ext cx="166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E8FF"/>
                </a:solidFill>
                <a:latin typeface="Microsoft YaHei"/>
                <a:ea typeface="Microsoft YaHei"/>
                <a:cs typeface="Microsoft YaHei"/>
              </a:rPr>
              <a:t>server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B938B-B74A-4027-895D-A212B98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29075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职责拆分，便于协作与维护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359405-9F22-4E4A-8F8F-3A1B614B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EBD2D9-6F0D-435C-AF9D-093EC8CF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1677367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FF0209-9E58-484E-847F-EC9CE50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05 ·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5B21F-A860-4DEC-8FD5-D4B8405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数据库用核心实体串起“谁借了什么、什么时候还”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CA512-694A-40F9-B470-AD9BBAE9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79550-B06C-4031-8381-02679A98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D8D55-FD69-4848-A401-5470D02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905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97E0E-26D1-4D5B-9ECC-77EEFD0C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211E5-BD6B-4C74-8E68-1A6F7C9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96C24-8C95-4F5B-AE89-A2B46E9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905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A155E-DA5D-4DD5-A716-C1BC842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reader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18C19-EC3F-41A7-BDFE-B75A0259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624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读者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212BD-62EB-4FB9-BEE8-28F3AE3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905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7C4DE-24FE-4B43-B54E-31B5917F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240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832FB-DE82-446C-B86F-3877CD55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45888-ABF1-4150-8262-15E09A1E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905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10E4A-D522-482D-90FA-64DF5C4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862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5A43A-C70F-4616-8451-A013F87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6242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图书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AE87D-3DCF-4EE1-9136-443B7022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905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04ACB-E14C-4C4B-AFAD-41367F0A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8132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borrow_record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5DB3-262D-4FDA-9337-9A55B0F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借阅记录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DC2A1-7C50-4F46-8F04-4BB5122D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05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CB66A-5B56-4658-85AB-23EE024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240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notice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DE0ED-D7C6-420A-9C2C-9258DD39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003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公告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FF211-D0F4-474C-9036-F3C3EA24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526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28554-4EB3-4863-93CD-5333FEF5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2C7A5-EE5C-434B-8D28-491B306A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52675"/>
            <a:ext cx="13335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37DB1-ABF5-44C7-B58A-165E90FF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1942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7798A-FFA5-484B-90B5-76C29755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1E62F-0F5D-463D-8575-267D751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528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F5AEA-3B98-4B42-AA7C-83BF5344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13335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61F1A-AE52-4946-92BC-FCBE896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670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9E628-EC65-4E53-ADEB-4CA9A4F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52675"/>
            <a:ext cx="7620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5F2820-149D-4725-8444-DDB736C2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6A5004-F082-4BD8-BEE8-E4FFFCA5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52675"/>
            <a:ext cx="228600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5163AB-03FF-4083-9FFA-6A8F31E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955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56E7E-6B92-4B38-BB0D-B063771E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借阅记录是业务核心：关联 reader_id、book_id，并在事务中同步库存与归还状态。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B82A5-1C5E-4829-BE23-A58DA49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5ED5C7-C69C-44E0-ABE4-F7FF3B81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2090563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FC791A-62F8-4A10-AD80-B675A0BB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06 · CORE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075A5-532B-4978-BE88-15C48A14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借阅流程把业务规则落在服务层，并通过事务保证一致性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78404-5035-4E8C-AB8E-5CA114A7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1EF25-0F22-464F-94CD-F567853F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97B91-7406-4C7A-84F5-BF244E70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119F0-D133-4F8A-91DF-C294BF4B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28FAE-A231-4DE0-9F13-241BB27F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621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CFA1A-27E0-4BC2-AE23-8DABB4C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0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89C6C-D1CC-4D26-977D-2834669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提交借阅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41A43-C17D-4D59-8449-E2DE2F15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校验当前用户与目标读者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9DDB8-9D21-492C-8658-F9CD5282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573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820D2-4C08-41A2-B54F-074244F8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573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97FF9-73DE-4D3F-8A4D-16E9CEB1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621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5BE09-0AD3-4444-9CEF-778FDA85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0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278E1-EC2A-422F-93F9-C9ED3655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709AE-EB63-4888-93E6-E7FD4CE7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38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读者有效、未超过上限、库存 &gt;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1BCC4-0DE4-4DE8-BFA1-0F1F6E48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63053-EED4-4BBB-BC36-B6E92159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01C0A4-8191-4C17-A3AA-7F38A83D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621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01E2D-4A17-462C-925F-6A3929A5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3309B-B186-4D9F-A556-A8D34A7B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更新库存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CF3A5-CA92-4C21-9BCE-214B40C0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decreaseStock(bookId)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08866-EF5E-4CAA-9042-96CE732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573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E3873-6785-431A-87E9-031138D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573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98B103-3FE9-4F52-8081-1CD2D93D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621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02FE1-4E74-4E82-B632-71E91ABB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02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B45B29-1541-442F-9401-BAE0BBC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写入记录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EF0A4-1323-46ED-8EE8-D2F5BE5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38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设置 dueTime、status、operatorId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FA4EF-534F-43D3-9F5C-9FC9A85D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5737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EAA2DC-7056-4925-8CD2-0E549F5B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573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152290-7A5F-4362-94F9-39EBCD3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归还闭环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ADE052-E0CF-4158-B691-0817BAF1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returnBook + increaseStock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551677-5A3B-4834-B554-CBA7A7C6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5250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47998-B273-4689-BDE9-A6FFF35B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5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85B62"/>
                </a:solidFill>
                <a:latin typeface="Microsoft YaHei"/>
                <a:ea typeface="Microsoft YaHei"/>
                <a:cs typeface="Microsoft YaHei"/>
              </a:rPr>
              <a:t>@Transactional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9CC81-ECE1-48D0-B77D-EB0DEFE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借阅与库存更新在同一个事务中执行，任一步失败都会回滚，避免“有记录但库存没减”或“库存变了但没有记录”。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5B827-87A9-4BA9-ACCB-010A3D11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2FF45-ED11-49A7-BD7F-A515964A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1813621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62A12-DAD0-4449-B942-0ACE5091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07 ·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FCA32-B288-4407-BF1B-8F754CC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权限控制贯穿登录、接口和业务动作三层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D8766-DB69-475D-B5CF-B8D2BA6A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BA6A7-033C-437D-8C32-DC9EDAB9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40E4B-CE64-4521-8224-5C1CC11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31916-7C95-4656-AA15-D11A3C4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25DE8-1A14-4111-B83D-59E47646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CA8B1-5ACD-400B-A313-D8FA0CCC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登录认证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05A73-22B7-497B-BFB6-4283727F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AuthController</a:t>
            </a:r>
          </a:p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JWT 签发令牌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F7A7A-7E84-4A69-959D-D606370F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098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5CB15-29E6-4DBB-B34A-0F77562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47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C04B1-B692-4D65-B98C-5B8C3203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0F8BB-DEB1-4DC3-A068-618721A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8CFE0-3F03-4469-913B-3EEA52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B3796-C344-47BF-8579-2905CFF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05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请求拦截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B89F2-5B11-4F09-B1D3-FAA8BD0C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AuthInterceptor</a:t>
            </a:r>
          </a:p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解析用户上下文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0E0DC-FC1B-42F1-80D7-C91B7403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09875"/>
            <a:ext cx="447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E6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BEA83-B7F1-4092-9C16-D89AA4C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47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CE6F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23445-0B8F-451B-9B36-8FECA3FC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54EC8-845F-4A79-9B04-CC9A7D4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DC42DD-31B8-4253-96DB-56608BB6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0033E-EBD6-4A1F-8392-27B24C8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角色授权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1FC6E-4E69-4F81-A369-EEBA783A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@RequireRole</a:t>
            </a:r>
          </a:p>
          <a:p xmlns:a="http://schemas.openxmlformats.org/drawingml/2006/main">
            <a:pPr algn="ctr">
              <a:def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ADMIN / READER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08B41-C275-4951-8C83-94E86B18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典型差异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02B59-77F8-4BC7-80B3-88C4AE6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C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C9B72"/>
                </a:solidFill>
                <a:latin typeface="Microsoft YaHei"/>
                <a:ea typeface="Microsoft YaHei"/>
                <a:cs typeface="Microsoft YaHei"/>
              </a:rPr>
              <a:t>管理员：维护图书 / 读者 / 公告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529DC-D205-4FDD-AEC9-98FA0DE6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2762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8A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8A02B"/>
                </a:solidFill>
                <a:latin typeface="Microsoft YaHei"/>
                <a:ea typeface="Microsoft YaHei"/>
                <a:cs typeface="Microsoft YaHei"/>
              </a:rPr>
              <a:t>读者：查看资源 / 借阅 / 推荐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0E085-03EB-460E-A0C1-417D38BB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共同：登录 / 查书 / 归还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25319-0611-4B55-BD7D-64DFFB74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密码使用 BCrypt；前端 Axios 自动携带 Bearer Token。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80008D-57FD-4DF5-96A0-9B560F3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B2FE0A-F0BE-4193-99EB-47D2B22F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508913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E1324-6CE9-4266-9F43-EC59781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08 · AI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AB17B-E180-4ADD-80BE-E141FED0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被放进真实业务场景：推荐图书，也辅助运营判断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09F8D-2250-4040-B03D-B3302D3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B8CE9-92A8-40EC-A279-DB6BBF97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3F504-C58E-4984-AB83-0F44B88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FB0F5-AE71-4065-BD36-7527E7EF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咨询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51BCD-91DB-4D9D-A3CC-06D22F9C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同一个页面，根据角色进入两条不同的业务提示链。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E4AC2-A630-4128-B699-C1BCB2A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DeepSeekClient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1E481-D3E4-4692-AC47-D07E5480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超时 / 空响应 / 未配置密钥</a:t>
            </a:r>
          </a:p>
          <a:p xmlns:a="http://schemas.openxmlformats.org/drawingml/2006/main">
            <a:pPr algn="l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统一转为可控业务提示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85E5D-2251-4B76-96FA-BC1EF1F3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736C1-9B47-46D9-B03C-70B3F3F7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621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C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C9B72"/>
                </a:solidFill>
                <a:latin typeface="Microsoft YaHei"/>
                <a:ea typeface="Microsoft YaHei"/>
                <a:cs typeface="Microsoft YaHei"/>
              </a:rPr>
              <a:t>读者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57614-0DF7-448E-BA59-FC200DFB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/api/ai/recommend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13C5F-0AFE-4B44-A2B2-01FAF2A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输入偏好 → 推荐书目 + 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60D0E-4934-43C3-82F6-5CCE18A9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762500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979C8-87A4-4B53-B251-4BDB43D8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8A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8A02B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0A525-028B-42E8-B12E-8513ED43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/api/ai/advice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3EA73-5FBA-4F7E-A8B6-CD548871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输入运营问题 → 库存与运营建议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80340-6016-42EA-8F08-D6AEFF97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86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亮点：AI 不是独立聊天框，而是嵌入用户角色与图书馆业务语境。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D478D-DEA5-4079-854C-E3B9E7D7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508FA-973A-44D9-B185-11FFFBC7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1240520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B15A19-DE95-4AE6-9C05-70796659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09 · TECHNOLOGY &amp;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76ED3-82B2-4C5A-BD7B-B4B6C538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技术选型对应实训方案：从基础知识到项目实战形成闭环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AAA9E-3EB3-41D4-A383-2043E984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199C7-C9B3-4DE8-B3B4-AA598440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A2908-1DE5-4373-8B4C-B8559A3B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1532B-67B2-4F5A-A249-21EEBE84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EE96A-3746-47E7-84EC-030855DE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526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HTML / CSS / JavaScript 基础延伸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7A956-C19F-4FD5-8F9E-62F60F5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145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0911F-5590-4B26-8656-030B4618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Vue 3 · Element Plus · Axios ·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BF309-9C46-4C9A-9F71-135EF68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C0F52-008F-4A35-B5EB-C1C79FF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E7C46-F26A-4EDB-883D-965AC9DE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051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Java / Servlet / Web 服务思想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97347-A268-48BE-910E-FC5846B9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670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5BCDB-C5D5-4CCC-9CE6-462FF2C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Java 17 · Spring Boot 3.2.5 · MyBatis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70425-731F-4954-9E21-085A7589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EA4DC-2DF8-495D-BFBC-E769568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4E736-D9BE-4439-94C6-16D68940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576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MySQL / SQL / DML / DQL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50F8C-7471-4121-9DFB-C0E4D5B8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95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CA4DF-8AD6-4608-B2D4-2F774F1C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MySQL 8 · 外键 · 索引 · 分页查询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584FC-11C1-4227-A953-867FA91F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E8989-C458-45CD-B3E3-F388DD65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工程与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45EBD-5CF3-47D7-935C-ECD3358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101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Maven 项目管理 + AI 模型调用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8030B-1B05-437D-A052-DCA1BD1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72025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4A693-6DCC-4C84-B7C4-E151F6E9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多模块 Maven · JWT · BCrypt · DeepSeek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05924-9AF0-48DC-B888-02EB72C6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项目不是把课程知识点“并列摆放”，而是把它们组合成可运行、可演示、可迭代的应用。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B51AF-4E45-4040-AB00-534D1B1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5C6B2A-5F3F-482E-BF88-45C002A9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2040001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E5D97-18DF-415E-BCBE-3CD35311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10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6C453-818E-42F4-A7AA-8265E8EF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现场演示按一条业务主线推进，控制节奏也控制风险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D51C1-D8D5-4241-87AB-C8FD6934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C74EA-B5DB-4348-9EE5-375B25CD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9C359-9A5E-4467-80EE-FC21DEC9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C0768-5E42-43AD-8FE4-6995E6A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91CED-5721-418E-8E8C-5671C7B3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登录与首页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0E721-7031-42F8-849E-12A30EA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展示角色入口、菜单差异、数据概览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5D096-3634-4C78-A3DE-BF426727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534F5-F0FA-4A0E-92E7-D6D32391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AF464-DB6E-4511-9F65-C5E869A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EC4EC9-FEAC-4665-A10D-6CB2AEE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图书检索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E84FE-F3A7-4EB7-8AF9-D85C675F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955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按书名 / ISBN 查询，展示分页结果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5D86A-CDEC-4EEE-A044-FF022635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4DE02-78D4-47DF-BEA9-29C5B811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2D8DE-51E2-4CD6-999A-8A789A3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98EC6-17E4-4559-BA9E-85233847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借阅与归还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F8BB4-188C-4596-AF2C-2D2D738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展示库存变化、借阅记录、归还状态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F149C-5FC4-4B35-9BDA-D3BE9357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4AF93-CBBA-4263-8BF1-F515F71C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C8AAE-CE6D-43E3-B06E-C50B2F2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930E2-9A84-48E0-9358-D5266517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统计与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F078-CF00-41C7-A314-A874F98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按分类汇总，再完成推荐或运营建议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624AA-1017-471F-8196-BD1F415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524000" cy="2667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BEEAB-933F-4668-AB12-B5191AC2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286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演示原则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3FB8F-AEFB-45AC-A807-638173FE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先讲场景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5394C-1114-4CC0-93A9-B6592BAA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2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再点操作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A5462-7EA8-41BA-BB68-A1F65AF8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9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最后说实现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F7A92-21E1-40C8-BF81-3055C97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4F8687-6168-4F7E-A182-5EF6C67D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390760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2B2B0B-7E59-4806-9137-AD98D98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11 · TEAM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B623C-EBDF-45E6-A98B-5FB5A595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三个人不是轮流念 PPT，而是分别守住一条完整责任链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9287F-ABA5-48F9-93F2-AD8BA91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A4B1B-853B-4346-A6E9-91C7F7F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C667A-BFDE-4787-80EF-A707987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3524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D3749-B3F6-4A28-AE9D-E4AF7A4C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9C9BE-5BF7-4565-B9B3-3C9AE70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E358A-36F7-41A7-8BC6-970B12E6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90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D785B-5C69-462D-BE4C-243D9B6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33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7CF6"/>
                </a:solidFill>
                <a:latin typeface="Microsoft YaHei"/>
                <a:ea typeface="Microsoft YaHei"/>
                <a:cs typeface="Microsoft YaHei"/>
              </a:rPr>
              <a:t>产品与前端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A1D55-4D85-478D-824B-E2608BB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8A740-CF3B-43AB-8107-B4CF4A3A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428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需求梳理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Vue 页面与路由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登录 / 首页 / 图书模块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现场开场演示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AA436-4DF3-4162-BF12-6B3C253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3524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4D36E-494D-4BB3-8FE3-5436277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9B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8CD34-F519-456C-AE45-3CF517C2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145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E0E88-FFAF-4E92-A7B8-4A16EF26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90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成员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58864-20DA-4B04-A838-591FC80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33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9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C9B72"/>
                </a:solidFill>
                <a:latin typeface="Microsoft YaHei"/>
                <a:ea typeface="Microsoft YaHei"/>
                <a:cs typeface="Microsoft YaHei"/>
              </a:rPr>
              <a:t>后端与安全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5473E-B06C-4CD5-8FD5-C961DF15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9B6CB-C217-40E4-A4BF-B41B8EC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2428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Controller / Service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借阅事务与库存规则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JWT / BCrypt / 权限拦截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现场核心流程演示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7DBA7-A4EE-4E68-9BDE-38C444D9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3524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C1224-FC14-4C08-BF44-21A7215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A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DF273-3EF4-4583-8AEC-4650D6A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382D1-2453-4FD4-B607-820C46D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1AA2E-C522-4912-8643-31D45073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33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A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A02B"/>
                </a:solidFill>
                <a:latin typeface="Microsoft YaHei"/>
                <a:ea typeface="Microsoft YaHei"/>
                <a:cs typeface="Microsoft YaHei"/>
              </a:rPr>
              <a:t>数据库与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9E32D-22AB-4524-A385-FCA79DFB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79C0F-9002-4224-9287-048DD5C1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2428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表结构与 MyBatis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统计查询与数据模型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DeepSeek 接入与容错</a:t>
            </a:r>
          </a:p>
          <a:p xmlns:a="http://schemas.openxmlformats.org/drawingml/2006/main">
            <a:pPr algn="l">
              <a:def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现场统计 / AI 演示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A91A2-2A97-41AA-B6C8-116F1196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66D14-CA37-4D5F-9573-41F4C5FD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58B"/>
                </a:solidFill>
                <a:latin typeface="Microsoft YaHei"/>
                <a:ea typeface="Microsoft YaHei"/>
                <a:cs typeface="Microsoft YaHei"/>
              </a:rPr>
              <a:t>LibraryManagement · 实训项目答辩</a:t>
            </a:r>
          </a:p>
        </p:txBody>
      </p:sp>
    </p:spTree>
    <p:extLst>
      <p:ext uri="{BB962C8B-B14F-4D97-AF65-F5344CB8AC3E}">
        <p14:creationId xmlns:p14="http://schemas.microsoft.com/office/powerpoint/2010/main" val="1076295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E1FAF-53CF-4D21-BAC0-D14CA2D8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我们交付的，不只是一个页面集合。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BA026-AF3C-4ACC-99C8-45891F8B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DE8FF"/>
                </a:solidFill>
                <a:latin typeface="Microsoft YaHei"/>
                <a:ea typeface="Microsoft YaHei"/>
                <a:cs typeface="Microsoft YaHei"/>
              </a:rPr>
              <a:t>它是一套可以登录、查询、借阅、归还、统计，并且能够借助 AI 提供服务的图书管理系统。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B5435-0F30-41BA-8814-C71B4792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00037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2385E"/>
          </a:solidFill>
          <a:ln xmlns:a="http://schemas.openxmlformats.org/drawingml/2006/main" w="9525">
            <a:solidFill>
              <a:srgbClr val="285A8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7F027-C5AB-4B0C-BFEA-FFA817F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3B355-D1C8-4C84-BDAE-8C35A38E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图书 → 借阅 → 归还 → 库存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136D3-98B3-4F8E-856F-463ED03F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67125"/>
            <a:ext cx="300037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2385E"/>
          </a:solidFill>
          <a:ln xmlns:a="http://schemas.openxmlformats.org/drawingml/2006/main" w="9525">
            <a:solidFill>
              <a:srgbClr val="285A8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D524-F882-4CE5-88F8-2BD6C97D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2430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工程实践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DB952-F2B0-4161-A266-1B85DCA1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33875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前后端分离 + Maven 多模块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37E26-A4E3-4042-9143-2B17E8AE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67125"/>
            <a:ext cx="300037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2385E"/>
          </a:solidFill>
          <a:ln xmlns:a="http://schemas.openxmlformats.org/drawingml/2006/main" w="9525">
            <a:solidFill>
              <a:srgbClr val="285A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B37E2-5330-48AD-8B1F-E34F41E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2430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EDBFF"/>
                </a:solidFill>
                <a:latin typeface="Microsoft YaHei"/>
                <a:ea typeface="Microsoft YaHei"/>
                <a:cs typeface="Microsoft YaHei"/>
              </a:rPr>
              <a:t>可扩展方向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7C9DA-0584-424B-97C8-04941D38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33875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BE0"/>
                </a:solidFill>
                <a:latin typeface="Microsoft YaHei"/>
                <a:ea typeface="Microsoft YaHei"/>
                <a:cs typeface="Microsoft YaHei"/>
              </a:rPr>
              <a:t>预约、逾期提醒、更多数据分析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A92EE-9DF9-42E8-992F-2A5C0FF1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谢谢各位老师，欢迎提问。</a:t>
            </a:r>
          </a:p>
        </p:txBody>
      </p:sp>
    </p:spTree>
    <p:extLst>
      <p:ext uri="{BB962C8B-B14F-4D97-AF65-F5344CB8AC3E}">
        <p14:creationId xmlns:p14="http://schemas.microsoft.com/office/powerpoint/2010/main" val="261859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2026-07-23T15:31:44.3810000Z</dcterms:created>
  <dcterms:modified xsi:type="dcterms:W3CDTF">2026-07-23T15:31:44.3810000Z</dcterms:modified>
</coreProperties>
</file>