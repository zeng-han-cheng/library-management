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3444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95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5775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0E7C6F5-0D8A-4AE0-BBD3-6709F46BEE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3D3A72-E38F-4AE2-90AD-850155D13ECD}"/>
              </a:ext>
            </a:extLst>
          </p:cNvPr>
          <p:cNvSpPr>
            <a:spLocks noGrp="1"/>
          </p:cNvSpPr>
          <p:nvPr/>
        </p:nvSpPr>
        <p:spPr>
          <a:xfrm>
            <a:off x="704850" y="71437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endParaRPr sz="1500" b="1" dirty="0">
              <a:solidFill>
                <a:srgbClr val="93C5F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3E3A02-19FC-45EE-995F-B2BA1641C497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图书管理系统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91A545-EC40-4CCE-97A1-40E70619F748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752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基于 Vue + Spring Boot 的前后端分离实现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281562C-F120-4EFD-AF70-9666BA701B4C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8477250" cy="1524000"/>
          </a:xfrm>
          <a:prstGeom prst="roundRect">
            <a:avLst>
              <a:gd name="adj" fmla="val 7500"/>
            </a:avLst>
          </a:prstGeom>
          <a:solidFill>
            <a:srgbClr val="172554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E5FCF6-4F51-49AD-84FA-276490032DE6}"/>
              </a:ext>
            </a:extLst>
          </p:cNvPr>
          <p:cNvSpPr>
            <a:spLocks noGrp="1"/>
          </p:cNvSpPr>
          <p:nvPr/>
        </p:nvSpPr>
        <p:spPr>
          <a:xfrm>
            <a:off x="1028700" y="4000500"/>
            <a:ext cx="7620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管理员维护基础数据与借阅业务</a:t>
            </a:r>
          </a:p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读者查询个人信息并完成图书借阅</a:t>
            </a:r>
          </a:p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服务提供推荐与运营建议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55301F1-66EC-4E32-8293-7527EC661DEB}"/>
              </a:ext>
            </a:extLst>
          </p:cNvPr>
          <p:cNvSpPr>
            <a:spLocks noGrp="1"/>
          </p:cNvSpPr>
          <p:nvPr/>
        </p:nvSpPr>
        <p:spPr>
          <a:xfrm>
            <a:off x="714375" y="571500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F85658-BFD6-48CB-906A-BF63A27CD143}"/>
              </a:ext>
            </a:extLst>
          </p:cNvPr>
          <p:cNvSpPr>
            <a:spLocks noGrp="1"/>
          </p:cNvSpPr>
          <p:nvPr/>
        </p:nvSpPr>
        <p:spPr>
          <a:xfrm>
            <a:off x="714375" y="57816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A2F4F18-09AC-4F75-A94F-FEB701113D2D}"/>
              </a:ext>
            </a:extLst>
          </p:cNvPr>
          <p:cNvSpPr>
            <a:spLocks noGrp="1"/>
          </p:cNvSpPr>
          <p:nvPr/>
        </p:nvSpPr>
        <p:spPr>
          <a:xfrm>
            <a:off x="1952625" y="5715000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E9AF0C-CDDA-48C7-943B-33206B222E61}"/>
              </a:ext>
            </a:extLst>
          </p:cNvPr>
          <p:cNvSpPr>
            <a:spLocks noGrp="1"/>
          </p:cNvSpPr>
          <p:nvPr/>
        </p:nvSpPr>
        <p:spPr>
          <a:xfrm>
            <a:off x="1952625" y="578167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7B2F33-7123-4308-9480-F1425C7948C9}"/>
              </a:ext>
            </a:extLst>
          </p:cNvPr>
          <p:cNvSpPr>
            <a:spLocks noGrp="1"/>
          </p:cNvSpPr>
          <p:nvPr/>
        </p:nvSpPr>
        <p:spPr>
          <a:xfrm>
            <a:off x="3667125" y="571500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F9F7F9-50B8-445F-9258-0EDB69F9F789}"/>
              </a:ext>
            </a:extLst>
          </p:cNvPr>
          <p:cNvSpPr>
            <a:spLocks noGrp="1"/>
          </p:cNvSpPr>
          <p:nvPr/>
        </p:nvSpPr>
        <p:spPr>
          <a:xfrm>
            <a:off x="3667125" y="5781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MySQL + MyBatis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AECF39-D610-4578-A1E7-40675FBEEA0F}"/>
              </a:ext>
            </a:extLst>
          </p:cNvPr>
          <p:cNvSpPr>
            <a:spLocks noGrp="1"/>
          </p:cNvSpPr>
          <p:nvPr/>
        </p:nvSpPr>
        <p:spPr>
          <a:xfrm>
            <a:off x="8858250" y="56959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曾翰成 杨昊 焦铭志</a:t>
            </a:r>
            <a:endParaRPr sz="2000" b="0" dirty="0">
              <a:solidFill>
                <a:srgbClr val="94A3B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0127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6B90B18-5C15-40B7-893F-C1CFB1CD3E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8C9C54-30DF-42F6-B7A8-2A7C28447845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项目目标：让图书管理与读者服务各司其职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99D2FE-4959-4E3A-864E-E0F441DEB70B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A326E8-55D9-4258-8A5A-EA2CC7B59804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8B9B30-A0B5-4AE3-96EF-0CFF35163528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核心问题：如何将图书、读者、库存、借阅记录集中管理，并以权限控制保证不同角色只看到需要的功能。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CC5EFF0-F186-43EC-86FC-99AD9C727B8E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EA2CE40-CAAF-4A7F-B2FC-17CB1571FFB6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66675" cy="238125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90F735-4E4E-4F9C-90A2-E28E2C233912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449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管理端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816EB9-42C8-4C03-8264-C197316291A2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44958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维护图书、分类、读者、公告和管理员账号；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处理借书、正常归还与异常归还；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查看库存与分类统计。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22F57BF-4DD9-4979-ADBD-53750EDA7302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49A8E21-5FD2-49CC-8C0A-BF2DC87CF064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66675" cy="2381250"/>
          </a:xfrm>
          <a:prstGeom prst="roundRect">
            <a:avLst>
              <a:gd name="adj" fmla="val 28571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67EABE-4861-401F-92DE-FC769A9E4781}"/>
              </a:ext>
            </a:extLst>
          </p:cNvPr>
          <p:cNvSpPr>
            <a:spLocks noGrp="1"/>
          </p:cNvSpPr>
          <p:nvPr/>
        </p:nvSpPr>
        <p:spPr>
          <a:xfrm>
            <a:off x="6896100" y="2781300"/>
            <a:ext cx="449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读者端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4B1186-9376-4869-AB45-78BDB51760A2}"/>
              </a:ext>
            </a:extLst>
          </p:cNvPr>
          <p:cNvSpPr>
            <a:spLocks noGrp="1"/>
          </p:cNvSpPr>
          <p:nvPr/>
        </p:nvSpPr>
        <p:spPr>
          <a:xfrm>
            <a:off x="6896100" y="3219450"/>
            <a:ext cx="44958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登录后查看公告、个人借阅记录和可借图书；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设置借阅天数与数量；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获得 AI 图书推荐建议。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A9F603-64DE-4AE5-9DF3-70805D225C94}"/>
              </a:ext>
            </a:extLst>
          </p:cNvPr>
          <p:cNvSpPr>
            <a:spLocks noGrp="1"/>
          </p:cNvSpPr>
          <p:nvPr/>
        </p:nvSpPr>
        <p:spPr>
          <a:xfrm>
            <a:off x="571500" y="542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前后端分离使页面交互与业务持久化独立演进，也便于后续部署与团队协作。</a:t>
            </a:r>
          </a:p>
        </p:txBody>
      </p:sp>
    </p:spTree>
    <p:extLst>
      <p:ext uri="{BB962C8B-B14F-4D97-AF65-F5344CB8AC3E}">
        <p14:creationId xmlns:p14="http://schemas.microsoft.com/office/powerpoint/2010/main" val="164669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2FBFED-8C75-4F12-B0DD-7673CDA89F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08488F-9B95-44A4-A0E4-AC2897DA77B2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</a:t>
            </a:r>
            <a:r>
              <a:rPr lang="zh-CN" altLang="en-US" sz="30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分工</a:t>
            </a:r>
            <a:endParaRPr sz="300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3323D83-5BC7-42D9-9CDD-401C5F838073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E68626-192C-4F4E-8DB4-93C70215F5B3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2902DA8-486C-496B-8DC9-C9E6D165EB49}"/>
              </a:ext>
            </a:extLst>
          </p:cNvPr>
          <p:cNvSpPr>
            <a:spLocks noGrp="1"/>
          </p:cNvSpPr>
          <p:nvPr/>
        </p:nvSpPr>
        <p:spPr>
          <a:xfrm>
            <a:off x="557750" y="1809750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7A0860-1D88-4D5A-A637-C6806D2AAEDE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曾翰成</a:t>
            </a:r>
            <a:endParaRPr sz="15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CCE81D3-2072-4675-A439-66FE0874C3B9}"/>
              </a:ext>
            </a:extLst>
          </p:cNvPr>
          <p:cNvSpPr>
            <a:spLocks noGrp="1"/>
          </p:cNvSpPr>
          <p:nvPr/>
        </p:nvSpPr>
        <p:spPr>
          <a:xfrm>
            <a:off x="2667000" y="1809750"/>
            <a:ext cx="8953500" cy="62865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F1D4E9-A234-4742-A1D5-A8A077D8A872}"/>
              </a:ext>
            </a:extLst>
          </p:cNvPr>
          <p:cNvSpPr>
            <a:spLocks noGrp="1"/>
          </p:cNvSpPr>
          <p:nvPr/>
        </p:nvSpPr>
        <p:spPr>
          <a:xfrm>
            <a:off x="2905125" y="1971675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总体汇报；展示图书管理；分类管理；读者管理；读者端相关功能以及代码</a:t>
            </a:r>
            <a:endParaRPr sz="1350" b="0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D41D297-0BB8-450C-9C79-70D0792B1BF8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627E43-7466-46A5-A292-498DA2492374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杨昊</a:t>
            </a:r>
            <a:endParaRPr sz="15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9602202-16E3-4CB1-A2CA-E01864FFD45A}"/>
              </a:ext>
            </a:extLst>
          </p:cNvPr>
          <p:cNvSpPr>
            <a:spLocks noGrp="1"/>
          </p:cNvSpPr>
          <p:nvPr/>
        </p:nvSpPr>
        <p:spPr>
          <a:xfrm>
            <a:off x="2667000" y="2714625"/>
            <a:ext cx="8953500" cy="62865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01F529-6DF7-48C9-AE50-4921F97D78C0}"/>
              </a:ext>
            </a:extLst>
          </p:cNvPr>
          <p:cNvSpPr>
            <a:spLocks noGrp="1"/>
          </p:cNvSpPr>
          <p:nvPr/>
        </p:nvSpPr>
        <p:spPr>
          <a:xfrm>
            <a:off x="2905125" y="28765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公告管理；借阅管理相关功能及代码演示</a:t>
            </a:r>
            <a:endParaRPr sz="1350" b="0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F15323E-B8D8-4472-881A-92E515CA2E9D}"/>
              </a:ext>
            </a:extLst>
          </p:cNvPr>
          <p:cNvSpPr>
            <a:spLocks noGrp="1"/>
          </p:cNvSpPr>
          <p:nvPr/>
        </p:nvSpPr>
        <p:spPr>
          <a:xfrm>
            <a:off x="571500" y="3619500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AFEB35-C109-46EB-A4B0-9250ABD3C47F}"/>
              </a:ext>
            </a:extLst>
          </p:cNvPr>
          <p:cNvSpPr>
            <a:spLocks noGrp="1"/>
          </p:cNvSpPr>
          <p:nvPr/>
        </p:nvSpPr>
        <p:spPr>
          <a:xfrm>
            <a:off x="571500" y="380047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焦铭志</a:t>
            </a:r>
            <a:endParaRPr sz="15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6F5DF00-77C0-4E88-80C6-B32A0F91A69B}"/>
              </a:ext>
            </a:extLst>
          </p:cNvPr>
          <p:cNvSpPr>
            <a:spLocks noGrp="1"/>
          </p:cNvSpPr>
          <p:nvPr/>
        </p:nvSpPr>
        <p:spPr>
          <a:xfrm>
            <a:off x="2667000" y="3619500"/>
            <a:ext cx="8953500" cy="62865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B33C0B-DD2E-4830-BE10-FA11554F3B80}"/>
              </a:ext>
            </a:extLst>
          </p:cNvPr>
          <p:cNvSpPr>
            <a:spLocks noGrp="1"/>
          </p:cNvSpPr>
          <p:nvPr/>
        </p:nvSpPr>
        <p:spPr>
          <a:xfrm>
            <a:off x="2905125" y="3781425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统计分析，</a:t>
            </a:r>
            <a:r>
              <a:rPr lang="en-US" altLang="zh-CN" sz="135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lang="zh-CN" altLang="en-US" sz="135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运营建议相关功能以及代码演示</a:t>
            </a:r>
            <a:endParaRPr sz="1350" b="0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293193-7599-4665-A5A3-4238AFCA8E8A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3135E1-7ADB-4E4B-A803-EFDFB7E5D316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系统以权限、业务事务与前后端协作为基础，形成了完整的图书管理闭环。</a:t>
            </a:r>
          </a:p>
        </p:txBody>
      </p:sp>
    </p:spTree>
    <p:extLst>
      <p:ext uri="{BB962C8B-B14F-4D97-AF65-F5344CB8AC3E}">
        <p14:creationId xmlns:p14="http://schemas.microsoft.com/office/powerpoint/2010/main" val="2263223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850BE55-47B3-4BFA-8EC9-721CC4FF11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2AD06E-3DCC-4317-A7F4-C9D58D3B1233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双角色权限设计：管理员与读者的功能边界清晰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7AA34BD-48CC-498D-B926-F9E9A68D986F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703E39-79B2-47FC-820E-FFE22FA4A81E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DF5B4A-0DB8-4F56-9D50-3DEDDF9E853F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JWT 保存登录态，后端拦截器根据角色验证接口访问权限；前端路由同步隐藏无权菜单。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F06D1CA-77A5-49FB-91BA-66FE78AA37E6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5095875" cy="314325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3F52EA-2CDD-46CB-81BD-B9FE4A31F723}"/>
              </a:ext>
            </a:extLst>
          </p:cNvPr>
          <p:cNvSpPr>
            <a:spLocks noGrp="1"/>
          </p:cNvSpPr>
          <p:nvPr/>
        </p:nvSpPr>
        <p:spPr>
          <a:xfrm>
            <a:off x="904875" y="2571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管理员 ADMIN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2BED9A-ED42-4E8D-8A1B-51E8A6B0F7BF}"/>
              </a:ext>
            </a:extLst>
          </p:cNvPr>
          <p:cNvSpPr>
            <a:spLocks noGrp="1"/>
          </p:cNvSpPr>
          <p:nvPr/>
        </p:nvSpPr>
        <p:spPr>
          <a:xfrm>
            <a:off x="904875" y="3190875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图书 / 分类 / 读者 / 公告管理</a:t>
            </a:r>
          </a:p>
          <a:p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管理员账号维护</a:t>
            </a:r>
          </a:p>
          <a:p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借阅、归还与库存修复</a:t>
            </a:r>
          </a:p>
          <a:p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统计分析与 AI 运营建议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14E254C-79FB-42EE-BF70-56F6E2FDC00A}"/>
              </a:ext>
            </a:extLst>
          </p:cNvPr>
          <p:cNvSpPr>
            <a:spLocks noGrp="1"/>
          </p:cNvSpPr>
          <p:nvPr/>
        </p:nvSpPr>
        <p:spPr>
          <a:xfrm>
            <a:off x="6524625" y="2286000"/>
            <a:ext cx="5095875" cy="3143250"/>
          </a:xfrm>
          <a:prstGeom prst="roundRect">
            <a:avLst>
              <a:gd name="adj" fmla="val 3636"/>
            </a:avLst>
          </a:prstGeom>
          <a:solidFill>
            <a:srgbClr val="ECFEFF"/>
          </a:solidFill>
          <a:ln w="9525">
            <a:solidFill>
              <a:srgbClr val="67E8F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55717F-60FD-4A4E-AAB3-9E0933149485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读者 READER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8F991D-C662-4ED8-BAC0-A87DA54D74A1}"/>
              </a:ext>
            </a:extLst>
          </p:cNvPr>
          <p:cNvSpPr>
            <a:spLocks noGrp="1"/>
          </p:cNvSpPr>
          <p:nvPr/>
        </p:nvSpPr>
        <p:spPr>
          <a:xfrm>
            <a:off x="6858000" y="3190875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查看系统公告</a:t>
            </a:r>
          </a:p>
          <a:p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查询个人借阅记录</a:t>
            </a:r>
          </a:p>
          <a:p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选择可借图书并设置借阅信息</a:t>
            </a:r>
          </a:p>
          <a:p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获取 AI 个性化借阅建议</a:t>
            </a:r>
          </a:p>
        </p:txBody>
      </p:sp>
    </p:spTree>
    <p:extLst>
      <p:ext uri="{BB962C8B-B14F-4D97-AF65-F5344CB8AC3E}">
        <p14:creationId xmlns:p14="http://schemas.microsoft.com/office/powerpoint/2010/main" val="1196774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66CDC78-0784-4D44-A0EE-1ABF586911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66B2DF-E4EB-45AA-B6BA-E3B83C4B0215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功能覆盖“基础资料—借阅业务—智能分析”全流程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BFD44B7-E698-4FCA-B064-E7DB7729F59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E1512F-BC58-4F61-B956-4934E982C28A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EBC3681-FD5F-477A-8BB1-097F9F99518C}"/>
              </a:ext>
            </a:extLst>
          </p:cNvPr>
          <p:cNvSpPr>
            <a:spLocks noGrp="1"/>
          </p:cNvSpPr>
          <p:nvPr/>
        </p:nvSpPr>
        <p:spPr>
          <a:xfrm>
            <a:off x="2762250" y="2686050"/>
            <a:ext cx="714375" cy="2667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958FF28-3004-43F1-8576-D16C1A851DCB}"/>
              </a:ext>
            </a:extLst>
          </p:cNvPr>
          <p:cNvSpPr>
            <a:spLocks noGrp="1"/>
          </p:cNvSpPr>
          <p:nvPr/>
        </p:nvSpPr>
        <p:spPr>
          <a:xfrm>
            <a:off x="5476875" y="2686050"/>
            <a:ext cx="714375" cy="2667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7198695-9D6B-4C9F-B9A3-1BF2325BC1C7}"/>
              </a:ext>
            </a:extLst>
          </p:cNvPr>
          <p:cNvSpPr>
            <a:spLocks noGrp="1"/>
          </p:cNvSpPr>
          <p:nvPr/>
        </p:nvSpPr>
        <p:spPr>
          <a:xfrm>
            <a:off x="8191500" y="2686050"/>
            <a:ext cx="714375" cy="2667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98F80CB-5517-4AC2-BB96-7F2782815562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2190750" cy="17145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1DC042-580B-4A44-9028-44DBB6502CAD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基础资料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905624-7E97-4176-85FA-EA6FA1BB09B4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19621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图书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读者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9FB87E5-7447-4968-9790-AFF913D929A2}"/>
              </a:ext>
            </a:extLst>
          </p:cNvPr>
          <p:cNvSpPr>
            <a:spLocks noGrp="1"/>
          </p:cNvSpPr>
          <p:nvPr/>
        </p:nvSpPr>
        <p:spPr>
          <a:xfrm>
            <a:off x="3476625" y="1952625"/>
            <a:ext cx="200025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520156-B8AD-4105-A01D-A927CAAB26FD}"/>
              </a:ext>
            </a:extLst>
          </p:cNvPr>
          <p:cNvSpPr>
            <a:spLocks noGrp="1"/>
          </p:cNvSpPr>
          <p:nvPr/>
        </p:nvSpPr>
        <p:spPr>
          <a:xfrm>
            <a:off x="3590925" y="2143125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认证权限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045AEE-C91A-4B54-B53A-C85C9553A20E}"/>
              </a:ext>
            </a:extLst>
          </p:cNvPr>
          <p:cNvSpPr>
            <a:spLocks noGrp="1"/>
          </p:cNvSpPr>
          <p:nvPr/>
        </p:nvSpPr>
        <p:spPr>
          <a:xfrm>
            <a:off x="3590925" y="2495550"/>
            <a:ext cx="17716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登录 / 登出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JWT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当前用户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角色拦截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56BD772-4F00-4FC2-BD41-629E3BC2369A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200025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F32CBF-D852-4AD6-BE89-6108C91DDFB6}"/>
              </a:ext>
            </a:extLst>
          </p:cNvPr>
          <p:cNvSpPr>
            <a:spLocks noGrp="1"/>
          </p:cNvSpPr>
          <p:nvPr/>
        </p:nvSpPr>
        <p:spPr>
          <a:xfrm>
            <a:off x="6305550" y="2143125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借阅业务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DD712A-1D9D-4375-94BD-10135989DCD6}"/>
              </a:ext>
            </a:extLst>
          </p:cNvPr>
          <p:cNvSpPr>
            <a:spLocks noGrp="1"/>
          </p:cNvSpPr>
          <p:nvPr/>
        </p:nvSpPr>
        <p:spPr>
          <a:xfrm>
            <a:off x="6305550" y="2495550"/>
            <a:ext cx="17716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借书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正常归还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异常归还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时间线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1EF7290-2966-4B45-9000-6662F7E6BC54}"/>
              </a:ext>
            </a:extLst>
          </p:cNvPr>
          <p:cNvSpPr>
            <a:spLocks noGrp="1"/>
          </p:cNvSpPr>
          <p:nvPr/>
        </p:nvSpPr>
        <p:spPr>
          <a:xfrm>
            <a:off x="8905875" y="1952625"/>
            <a:ext cx="2714625" cy="17145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B03191-38EA-4252-9C74-5FEFF6DBB5D0}"/>
              </a:ext>
            </a:extLst>
          </p:cNvPr>
          <p:cNvSpPr>
            <a:spLocks noGrp="1"/>
          </p:cNvSpPr>
          <p:nvPr/>
        </p:nvSpPr>
        <p:spPr>
          <a:xfrm>
            <a:off x="9020175" y="2143125"/>
            <a:ext cx="24860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统计与 AI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D5B018-577D-4CF0-A598-0D2581A4D168}"/>
              </a:ext>
            </a:extLst>
          </p:cNvPr>
          <p:cNvSpPr>
            <a:spLocks noGrp="1"/>
          </p:cNvSpPr>
          <p:nvPr/>
        </p:nvSpPr>
        <p:spPr>
          <a:xfrm>
            <a:off x="9020175" y="2495550"/>
            <a:ext cx="248602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分类聚合统计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库存建议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读者推荐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运营辅助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A886F7A-CF68-4456-8964-6619269215D5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所有业务结果最终回写 MySQL；借阅操作会同步更新图书可借库存和状态。</a:t>
            </a:r>
          </a:p>
        </p:txBody>
      </p:sp>
    </p:spTree>
    <p:extLst>
      <p:ext uri="{BB962C8B-B14F-4D97-AF65-F5344CB8AC3E}">
        <p14:creationId xmlns:p14="http://schemas.microsoft.com/office/powerpoint/2010/main" val="122086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69353D0-E6EA-4C31-BBC0-00361B2C46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9517E6-B8CD-42C9-B2EF-43B8A419D85F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技术栈：以 Spring Boot 为核心完成端到端交付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EA2B0A7-4A5A-4391-9A5C-0BA8F6A3EF9B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585A75-6540-4D93-BDF0-7B9A390CEAA1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0C3CEE1-EAB3-4743-83F7-B00AAB3B1603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32385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7260A31-557A-4D4A-803F-1BB7F6F6D9BC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66675" cy="1666875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C46D80-7B75-48B7-93EF-B64C9334A19C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前端交互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E128E4-AC5E-465B-AECF-64D3D6D0EF27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27813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Vue 3 + Vite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Element Plus + Axios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00E9F40-95D9-4BF9-BC55-B97AF9C4ACA1}"/>
              </a:ext>
            </a:extLst>
          </p:cNvPr>
          <p:cNvSpPr>
            <a:spLocks noGrp="1"/>
          </p:cNvSpPr>
          <p:nvPr/>
        </p:nvSpPr>
        <p:spPr>
          <a:xfrm>
            <a:off x="4286250" y="1905000"/>
            <a:ext cx="32385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D19787B-917A-46EC-B107-5C4A53EDD518}"/>
              </a:ext>
            </a:extLst>
          </p:cNvPr>
          <p:cNvSpPr>
            <a:spLocks noGrp="1"/>
          </p:cNvSpPr>
          <p:nvPr/>
        </p:nvSpPr>
        <p:spPr>
          <a:xfrm>
            <a:off x="4286250" y="1905000"/>
            <a:ext cx="66675" cy="1666875"/>
          </a:xfrm>
          <a:prstGeom prst="roundRect">
            <a:avLst>
              <a:gd name="adj" fmla="val 28571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324F39-567A-40A2-A428-90A96E5E7D55}"/>
              </a:ext>
            </a:extLst>
          </p:cNvPr>
          <p:cNvSpPr>
            <a:spLocks noGrp="1"/>
          </p:cNvSpPr>
          <p:nvPr/>
        </p:nvSpPr>
        <p:spPr>
          <a:xfrm>
            <a:off x="4514850" y="21145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HTTP 网关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2880E4-9D4E-475C-AC5E-8DC61590AFCC}"/>
              </a:ext>
            </a:extLst>
          </p:cNvPr>
          <p:cNvSpPr>
            <a:spLocks noGrp="1"/>
          </p:cNvSpPr>
          <p:nvPr/>
        </p:nvSpPr>
        <p:spPr>
          <a:xfrm>
            <a:off x="4514850" y="2552700"/>
            <a:ext cx="27813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Nginx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静态资源与 /api 反向代理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C60D35-3A9A-4665-99BE-D30A3E129ABE}"/>
              </a:ext>
            </a:extLst>
          </p:cNvPr>
          <p:cNvSpPr>
            <a:spLocks noGrp="1"/>
          </p:cNvSpPr>
          <p:nvPr/>
        </p:nvSpPr>
        <p:spPr>
          <a:xfrm>
            <a:off x="8001000" y="1905000"/>
            <a:ext cx="32385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9850EB-CD27-41A2-B070-CF0E76384E96}"/>
              </a:ext>
            </a:extLst>
          </p:cNvPr>
          <p:cNvSpPr>
            <a:spLocks noGrp="1"/>
          </p:cNvSpPr>
          <p:nvPr/>
        </p:nvSpPr>
        <p:spPr>
          <a:xfrm>
            <a:off x="8001000" y="1905000"/>
            <a:ext cx="66675" cy="1666875"/>
          </a:xfrm>
          <a:prstGeom prst="roundRect">
            <a:avLst>
              <a:gd name="adj" fmla="val 28571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3F0D43-277B-4D05-85F2-96B64DE18A5C}"/>
              </a:ext>
            </a:extLst>
          </p:cNvPr>
          <p:cNvSpPr>
            <a:spLocks noGrp="1"/>
          </p:cNvSpPr>
          <p:nvPr/>
        </p:nvSpPr>
        <p:spPr>
          <a:xfrm>
            <a:off x="8229600" y="21145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后端服务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3C1B4E-742C-44EE-8A6E-965E913F7D8C}"/>
              </a:ext>
            </a:extLst>
          </p:cNvPr>
          <p:cNvSpPr>
            <a:spLocks noGrp="1"/>
          </p:cNvSpPr>
          <p:nvPr/>
        </p:nvSpPr>
        <p:spPr>
          <a:xfrm>
            <a:off x="8229600" y="2552700"/>
            <a:ext cx="27813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Spring Boot + Spring MVC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JWT + 参数校验 + 全局异常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CE3CB1D-F5FD-45BC-95CB-33F8F57D2B47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32385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AE088AF-A9DA-40EC-92E0-66893313D90C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66675" cy="1666875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4DAC7B-F9F5-461A-ACFD-88B452D36215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数据持久化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59E987-E057-47AB-A73A-16EBB1FA7250}"/>
              </a:ext>
            </a:extLst>
          </p:cNvPr>
          <p:cNvSpPr>
            <a:spLocks noGrp="1"/>
          </p:cNvSpPr>
          <p:nvPr/>
        </p:nvSpPr>
        <p:spPr>
          <a:xfrm>
            <a:off x="800100" y="4743450"/>
            <a:ext cx="27813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MyBatis 原生 Mapper XML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MySQL 8.0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04B199B-C07C-44BB-AEE1-C7A1321DDF80}"/>
              </a:ext>
            </a:extLst>
          </p:cNvPr>
          <p:cNvSpPr>
            <a:spLocks noGrp="1"/>
          </p:cNvSpPr>
          <p:nvPr/>
        </p:nvSpPr>
        <p:spPr>
          <a:xfrm>
            <a:off x="4286250" y="4095750"/>
            <a:ext cx="32385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D184513-0D3F-46E9-BDA9-5F9DACC38CFB}"/>
              </a:ext>
            </a:extLst>
          </p:cNvPr>
          <p:cNvSpPr>
            <a:spLocks noGrp="1"/>
          </p:cNvSpPr>
          <p:nvPr/>
        </p:nvSpPr>
        <p:spPr>
          <a:xfrm>
            <a:off x="4286250" y="4095750"/>
            <a:ext cx="66675" cy="1666875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8EA49D-582B-4353-A5B9-A80BB73C0F34}"/>
              </a:ext>
            </a:extLst>
          </p:cNvPr>
          <p:cNvSpPr>
            <a:spLocks noGrp="1"/>
          </p:cNvSpPr>
          <p:nvPr/>
        </p:nvSpPr>
        <p:spPr>
          <a:xfrm>
            <a:off x="4514850" y="430530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工程工具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F92619-17BC-4069-99C4-7AF8CE0059BA}"/>
              </a:ext>
            </a:extLst>
          </p:cNvPr>
          <p:cNvSpPr>
            <a:spLocks noGrp="1"/>
          </p:cNvSpPr>
          <p:nvPr/>
        </p:nvSpPr>
        <p:spPr>
          <a:xfrm>
            <a:off x="4514850" y="4743450"/>
            <a:ext cx="27813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IDEA 2022.1.3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Maven + Git + GitHub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Navicat Premium</a:t>
            </a:r>
          </a:p>
        </p:txBody>
      </p:sp>
    </p:spTree>
    <p:extLst>
      <p:ext uri="{BB962C8B-B14F-4D97-AF65-F5344CB8AC3E}">
        <p14:creationId xmlns:p14="http://schemas.microsoft.com/office/powerpoint/2010/main" val="138445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B09F191-9A77-409D-AF66-B3FEBF6E1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F1C606-89A4-4837-B852-770770B235E6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前后端分离架构：请求经网关进入后端业务服务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B08F363-4919-47C6-AE8E-76953CC04B8B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41F501-9687-49C8-A108-C319CD977F61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A051189-B7BF-4520-8905-69AD618CB296}"/>
              </a:ext>
            </a:extLst>
          </p:cNvPr>
          <p:cNvSpPr>
            <a:spLocks noGrp="1"/>
          </p:cNvSpPr>
          <p:nvPr/>
        </p:nvSpPr>
        <p:spPr>
          <a:xfrm>
            <a:off x="2619375" y="3143250"/>
            <a:ext cx="857250" cy="285750"/>
          </a:xfrm>
          <a:prstGeom prst="rightArrow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3054D9E-5C97-481F-888E-D541E8831509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857250" cy="285750"/>
          </a:xfrm>
          <a:prstGeom prst="rightArrow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6901896-3E2C-48E1-BD4F-62BBF7A04E47}"/>
              </a:ext>
            </a:extLst>
          </p:cNvPr>
          <p:cNvSpPr>
            <a:spLocks noGrp="1"/>
          </p:cNvSpPr>
          <p:nvPr/>
        </p:nvSpPr>
        <p:spPr>
          <a:xfrm>
            <a:off x="7953375" y="2333625"/>
            <a:ext cx="857250" cy="285750"/>
          </a:xfrm>
          <a:prstGeom prst="rightArrow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DD21B80-8A13-4059-BFDB-2F8F32EB3D29}"/>
              </a:ext>
            </a:extLst>
          </p:cNvPr>
          <p:cNvSpPr>
            <a:spLocks noGrp="1"/>
          </p:cNvSpPr>
          <p:nvPr/>
        </p:nvSpPr>
        <p:spPr>
          <a:xfrm>
            <a:off x="7953375" y="3857625"/>
            <a:ext cx="857250" cy="285750"/>
          </a:xfrm>
          <a:prstGeom prst="rightArrow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CF2AA87-89E4-4635-9B62-779EB7AA4254}"/>
              </a:ext>
            </a:extLst>
          </p:cNvPr>
          <p:cNvSpPr>
            <a:spLocks noGrp="1"/>
          </p:cNvSpPr>
          <p:nvPr/>
        </p:nvSpPr>
        <p:spPr>
          <a:xfrm>
            <a:off x="7953375" y="5381625"/>
            <a:ext cx="857250" cy="285750"/>
          </a:xfrm>
          <a:prstGeom prst="rightArrow">
            <a:avLst/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653927-BD00-4F04-A95E-9C9C14DA8679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F43210-A3B0-4560-8D04-89698D48A91A}"/>
              </a:ext>
            </a:extLst>
          </p:cNvPr>
          <p:cNvSpPr>
            <a:spLocks noGrp="1"/>
          </p:cNvSpPr>
          <p:nvPr/>
        </p:nvSpPr>
        <p:spPr>
          <a:xfrm>
            <a:off x="733425" y="257175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FE6397-6ADE-4E99-A11F-B0232B4B3DB2}"/>
              </a:ext>
            </a:extLst>
          </p:cNvPr>
          <p:cNvSpPr>
            <a:spLocks noGrp="1"/>
          </p:cNvSpPr>
          <p:nvPr/>
        </p:nvSpPr>
        <p:spPr>
          <a:xfrm>
            <a:off x="733425" y="2924175"/>
            <a:ext cx="17716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管理员端 / 读者端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Vue 页面交互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7D183FA-00C2-4D88-8799-EDD09CB71FAC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B941CC-4BE4-417F-BAC5-76796FE51DC7}"/>
              </a:ext>
            </a:extLst>
          </p:cNvPr>
          <p:cNvSpPr>
            <a:spLocks noGrp="1"/>
          </p:cNvSpPr>
          <p:nvPr/>
        </p:nvSpPr>
        <p:spPr>
          <a:xfrm>
            <a:off x="3590925" y="25717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Nginx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037CE1-0186-4B74-A598-C0C4514255A8}"/>
              </a:ext>
            </a:extLst>
          </p:cNvPr>
          <p:cNvSpPr>
            <a:spLocks noGrp="1"/>
          </p:cNvSpPr>
          <p:nvPr/>
        </p:nvSpPr>
        <p:spPr>
          <a:xfrm>
            <a:off x="3590925" y="2924175"/>
            <a:ext cx="15811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静态资源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 反向代理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9C9385E-C453-48F8-A365-07F7F5573597}"/>
              </a:ext>
            </a:extLst>
          </p:cNvPr>
          <p:cNvSpPr>
            <a:spLocks noGrp="1"/>
          </p:cNvSpPr>
          <p:nvPr/>
        </p:nvSpPr>
        <p:spPr>
          <a:xfrm>
            <a:off x="6143625" y="2381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96036-7D4E-4A24-8499-3DDD4155DE36}"/>
              </a:ext>
            </a:extLst>
          </p:cNvPr>
          <p:cNvSpPr>
            <a:spLocks noGrp="1"/>
          </p:cNvSpPr>
          <p:nvPr/>
        </p:nvSpPr>
        <p:spPr>
          <a:xfrm>
            <a:off x="6257925" y="25717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11E97C-E3EA-4A3F-B193-35AC447D5857}"/>
              </a:ext>
            </a:extLst>
          </p:cNvPr>
          <p:cNvSpPr>
            <a:spLocks noGrp="1"/>
          </p:cNvSpPr>
          <p:nvPr/>
        </p:nvSpPr>
        <p:spPr>
          <a:xfrm>
            <a:off x="6257925" y="2924175"/>
            <a:ext cx="15811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Service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Mapper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7643EE4-7D18-4F00-81C4-2B764E5BA76F}"/>
              </a:ext>
            </a:extLst>
          </p:cNvPr>
          <p:cNvSpPr>
            <a:spLocks noGrp="1"/>
          </p:cNvSpPr>
          <p:nvPr/>
        </p:nvSpPr>
        <p:spPr>
          <a:xfrm>
            <a:off x="8810625" y="1524000"/>
            <a:ext cx="2238375" cy="11430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77013B-E869-4BC3-B275-90399D64FB18}"/>
              </a:ext>
            </a:extLst>
          </p:cNvPr>
          <p:cNvSpPr>
            <a:spLocks noGrp="1"/>
          </p:cNvSpPr>
          <p:nvPr/>
        </p:nvSpPr>
        <p:spPr>
          <a:xfrm>
            <a:off x="8924925" y="1714500"/>
            <a:ext cx="2009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MySQL 8.0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F2EFBA-803D-49D6-A36C-AE6A85499224}"/>
              </a:ext>
            </a:extLst>
          </p:cNvPr>
          <p:cNvSpPr>
            <a:spLocks noGrp="1"/>
          </p:cNvSpPr>
          <p:nvPr/>
        </p:nvSpPr>
        <p:spPr>
          <a:xfrm>
            <a:off x="8924925" y="2066925"/>
            <a:ext cx="2009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持久化业务数据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507E077-C7AE-4DF0-8625-D6149901AC5C}"/>
              </a:ext>
            </a:extLst>
          </p:cNvPr>
          <p:cNvSpPr>
            <a:spLocks noGrp="1"/>
          </p:cNvSpPr>
          <p:nvPr/>
        </p:nvSpPr>
        <p:spPr>
          <a:xfrm>
            <a:off x="8810625" y="3476625"/>
            <a:ext cx="2238375" cy="114300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706D2F-75A8-448C-B5E1-C8FEC213FC39}"/>
              </a:ext>
            </a:extLst>
          </p:cNvPr>
          <p:cNvSpPr>
            <a:spLocks noGrp="1"/>
          </p:cNvSpPr>
          <p:nvPr/>
        </p:nvSpPr>
        <p:spPr>
          <a:xfrm>
            <a:off x="8924925" y="3667125"/>
            <a:ext cx="2009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DeepSeek API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91E921-C0D6-4A15-8382-997343AD28B9}"/>
              </a:ext>
            </a:extLst>
          </p:cNvPr>
          <p:cNvSpPr>
            <a:spLocks noGrp="1"/>
          </p:cNvSpPr>
          <p:nvPr/>
        </p:nvSpPr>
        <p:spPr>
          <a:xfrm>
            <a:off x="8924925" y="4019550"/>
            <a:ext cx="2009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推荐与运营建议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E0860FF-CED8-4AD9-8D1E-EB6BAED8BC9E}"/>
              </a:ext>
            </a:extLst>
          </p:cNvPr>
          <p:cNvSpPr>
            <a:spLocks noGrp="1"/>
          </p:cNvSpPr>
          <p:nvPr/>
        </p:nvSpPr>
        <p:spPr>
          <a:xfrm>
            <a:off x="8810625" y="5000625"/>
            <a:ext cx="2238375" cy="11430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EFD8A7-E353-4668-863D-227CFBAB4D21}"/>
              </a:ext>
            </a:extLst>
          </p:cNvPr>
          <p:cNvSpPr>
            <a:spLocks noGrp="1"/>
          </p:cNvSpPr>
          <p:nvPr/>
        </p:nvSpPr>
        <p:spPr>
          <a:xfrm>
            <a:off x="8924925" y="5191125"/>
            <a:ext cx="2009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JWT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8902284-CC13-4259-A592-475BF5EEB231}"/>
              </a:ext>
            </a:extLst>
          </p:cNvPr>
          <p:cNvSpPr>
            <a:spLocks noGrp="1"/>
          </p:cNvSpPr>
          <p:nvPr/>
        </p:nvSpPr>
        <p:spPr>
          <a:xfrm>
            <a:off x="8924925" y="5543550"/>
            <a:ext cx="2009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认证与角色鉴权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662330-F349-4647-8CE8-4FFDC5003F20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职责拆分：Vue 只负责展示与交互，Spring Boot 负责规则、事务和数据一致性。</a:t>
            </a:r>
          </a:p>
        </p:txBody>
      </p:sp>
    </p:spTree>
    <p:extLst>
      <p:ext uri="{BB962C8B-B14F-4D97-AF65-F5344CB8AC3E}">
        <p14:creationId xmlns:p14="http://schemas.microsoft.com/office/powerpoint/2010/main" val="1690922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DA80E9E-D869-4FCA-A2DD-71ADBEE34B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1BDE4D-7F1D-4C60-A4B8-E4A85D2D8B6E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Maven 聚合工程将公共能力、模型与服务分层组织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434D561-E78F-46F4-ADB1-BAD2882216EF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1AEBD8-1585-46F8-BBB7-CED2867DC391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1BD0A2-5DAC-4A22-BB97-58D6F1F934A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父工程统一管理依赖版本并聚合子模块；业务模块依赖公共能力和数据模型。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8C8C042-C9A9-4469-A1FA-306456F84EB7}"/>
              </a:ext>
            </a:extLst>
          </p:cNvPr>
          <p:cNvSpPr>
            <a:spLocks noGrp="1"/>
          </p:cNvSpPr>
          <p:nvPr/>
        </p:nvSpPr>
        <p:spPr>
          <a:xfrm>
            <a:off x="3476625" y="2838450"/>
            <a:ext cx="857250" cy="2667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2663D56-4F90-4146-A3D1-7EA87B59C8CB}"/>
              </a:ext>
            </a:extLst>
          </p:cNvPr>
          <p:cNvSpPr>
            <a:spLocks noGrp="1"/>
          </p:cNvSpPr>
          <p:nvPr/>
        </p:nvSpPr>
        <p:spPr>
          <a:xfrm>
            <a:off x="7000875" y="2838450"/>
            <a:ext cx="857250" cy="2667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6C27AD1-0F9B-416B-BA9F-230789704D1A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2905125" cy="161925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1CA63F-1720-4FB0-98FA-5CC65A36065A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2676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父工程（pom）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D1E879-FE0A-4CBF-A0C8-01544E68CF46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67652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统一依赖版本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聚合模块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Maven 构建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360FBBF-9B4E-4134-B0BB-27A05B96924E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2667000" cy="161925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B91605-2347-4570-B04D-8E2356C82080}"/>
              </a:ext>
            </a:extLst>
          </p:cNvPr>
          <p:cNvSpPr>
            <a:spLocks noGrp="1"/>
          </p:cNvSpPr>
          <p:nvPr/>
        </p:nvSpPr>
        <p:spPr>
          <a:xfrm>
            <a:off x="4448175" y="2428875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DE10FB-0C27-4A65-B2B6-76A67B6D21B9}"/>
              </a:ext>
            </a:extLst>
          </p:cNvPr>
          <p:cNvSpPr>
            <a:spLocks noGrp="1"/>
          </p:cNvSpPr>
          <p:nvPr/>
        </p:nvSpPr>
        <p:spPr>
          <a:xfrm>
            <a:off x="4448175" y="2781300"/>
            <a:ext cx="243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工具类 / 常量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JWT / 统一返回体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异常处理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0D9E81A-B7A9-46E5-8C66-4B12B03BC8AD}"/>
              </a:ext>
            </a:extLst>
          </p:cNvPr>
          <p:cNvSpPr>
            <a:spLocks noGrp="1"/>
          </p:cNvSpPr>
          <p:nvPr/>
        </p:nvSpPr>
        <p:spPr>
          <a:xfrm>
            <a:off x="7858125" y="2238375"/>
            <a:ext cx="3190875" cy="161925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084778-2C45-4F4E-90B3-016512AB65CB}"/>
              </a:ext>
            </a:extLst>
          </p:cNvPr>
          <p:cNvSpPr>
            <a:spLocks noGrp="1"/>
          </p:cNvSpPr>
          <p:nvPr/>
        </p:nvSpPr>
        <p:spPr>
          <a:xfrm>
            <a:off x="7972425" y="2428875"/>
            <a:ext cx="2962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pojo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41B966-3A9B-4718-B49A-FDCFC4FE757E}"/>
              </a:ext>
            </a:extLst>
          </p:cNvPr>
          <p:cNvSpPr>
            <a:spLocks noGrp="1"/>
          </p:cNvSpPr>
          <p:nvPr/>
        </p:nvSpPr>
        <p:spPr>
          <a:xfrm>
            <a:off x="7972425" y="2781300"/>
            <a:ext cx="29622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Entity / DTO / VO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数据传输与实体模型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08B4BD02-6F89-47EA-BFBC-3B4594A72045}"/>
              </a:ext>
            </a:extLst>
          </p:cNvPr>
          <p:cNvSpPr>
            <a:spLocks noGrp="1"/>
          </p:cNvSpPr>
          <p:nvPr/>
        </p:nvSpPr>
        <p:spPr>
          <a:xfrm>
            <a:off x="5524500" y="4572000"/>
            <a:ext cx="1238250" cy="2667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5D41C88-9DD3-41F7-B35F-AE34CDFAA77A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5524500" cy="133350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85881F-7A3E-4BA6-84D4-D418B3ED498D}"/>
              </a:ext>
            </a:extLst>
          </p:cNvPr>
          <p:cNvSpPr>
            <a:spLocks noGrp="1"/>
          </p:cNvSpPr>
          <p:nvPr/>
        </p:nvSpPr>
        <p:spPr>
          <a:xfrm>
            <a:off x="3352800" y="4667250"/>
            <a:ext cx="529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server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563E86-EE8E-4DF9-AA63-1BFCD26DE8AC}"/>
              </a:ext>
            </a:extLst>
          </p:cNvPr>
          <p:cNvSpPr>
            <a:spLocks noGrp="1"/>
          </p:cNvSpPr>
          <p:nvPr/>
        </p:nvSpPr>
        <p:spPr>
          <a:xfrm>
            <a:off x="3352800" y="5019675"/>
            <a:ext cx="5295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配置文件 / Controller / Service / Mapper / mapper.xml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启动类与 RESTful 接口实现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A2B7C2-497C-4CE2-A268-424DA84C718B}"/>
              </a:ext>
            </a:extLst>
          </p:cNvPr>
          <p:cNvSpPr>
            <a:spLocks noGrp="1"/>
          </p:cNvSpPr>
          <p:nvPr/>
        </p:nvSpPr>
        <p:spPr>
          <a:xfrm>
            <a:off x="3190875" y="6048375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依赖方向：server → common、pojo；common 与 pojo 保持独立。</a:t>
            </a:r>
          </a:p>
        </p:txBody>
      </p:sp>
    </p:spTree>
    <p:extLst>
      <p:ext uri="{BB962C8B-B14F-4D97-AF65-F5344CB8AC3E}">
        <p14:creationId xmlns:p14="http://schemas.microsoft.com/office/powerpoint/2010/main" val="144080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0182092-CA89-413F-A7EF-4889A79BE0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3EF9CD-96ED-44CD-9EFB-5A5FF1E10D1F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数据模型围绕图书、读者与借阅记录建立关联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BAF6D94-A5A3-4312-888C-F8E2ED6FA715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CF47D3-AF18-46C7-996E-9DC81B8138AD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5D6758B-33DF-4993-82CC-27957592F154}"/>
              </a:ext>
            </a:extLst>
          </p:cNvPr>
          <p:cNvSpPr>
            <a:spLocks noGrp="1"/>
          </p:cNvSpPr>
          <p:nvPr/>
        </p:nvSpPr>
        <p:spPr>
          <a:xfrm>
            <a:off x="3476625" y="2809875"/>
            <a:ext cx="685800" cy="2286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D519B0D-4076-4B21-9262-EAEDB5493BAD}"/>
              </a:ext>
            </a:extLst>
          </p:cNvPr>
          <p:cNvSpPr>
            <a:spLocks noGrp="1"/>
          </p:cNvSpPr>
          <p:nvPr/>
        </p:nvSpPr>
        <p:spPr>
          <a:xfrm>
            <a:off x="6191250" y="2809875"/>
            <a:ext cx="685800" cy="2286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DD66664B-0428-460F-A2FA-9F95AC8C2F7D}"/>
              </a:ext>
            </a:extLst>
          </p:cNvPr>
          <p:cNvSpPr>
            <a:spLocks noGrp="1"/>
          </p:cNvSpPr>
          <p:nvPr/>
        </p:nvSpPr>
        <p:spPr>
          <a:xfrm>
            <a:off x="8858250" y="2809875"/>
            <a:ext cx="685800" cy="2286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8D79ECC-6F17-4784-8DB2-12DB058F8A7C}"/>
              </a:ext>
            </a:extLst>
          </p:cNvPr>
          <p:cNvSpPr>
            <a:spLocks noGrp="1"/>
          </p:cNvSpPr>
          <p:nvPr/>
        </p:nvSpPr>
        <p:spPr>
          <a:xfrm>
            <a:off x="6143625" y="4572000"/>
            <a:ext cx="714375" cy="2286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EBA5A59-A1DA-474C-96F6-20C33E3CB4B9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2905125" cy="152400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74543A-16C0-4B25-B033-3CC9F690DE8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676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1807A2-BC34-4A06-86F0-FAE9E06C0660}"/>
              </a:ext>
            </a:extLst>
          </p:cNvPr>
          <p:cNvSpPr>
            <a:spLocks noGrp="1"/>
          </p:cNvSpPr>
          <p:nvPr/>
        </p:nvSpPr>
        <p:spPr>
          <a:xfrm>
            <a:off x="685800" y="2733675"/>
            <a:ext cx="26765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分类名称、描述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与图书一对多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0A1728C-9398-4BF8-9107-D44DB92857F0}"/>
              </a:ext>
            </a:extLst>
          </p:cNvPr>
          <p:cNvSpPr>
            <a:spLocks noGrp="1"/>
          </p:cNvSpPr>
          <p:nvPr/>
        </p:nvSpPr>
        <p:spPr>
          <a:xfrm>
            <a:off x="4162425" y="2190750"/>
            <a:ext cx="2028825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D62FF3-AA97-4AA5-9E3F-3221ED0512C2}"/>
              </a:ext>
            </a:extLst>
          </p:cNvPr>
          <p:cNvSpPr>
            <a:spLocks noGrp="1"/>
          </p:cNvSpPr>
          <p:nvPr/>
        </p:nvSpPr>
        <p:spPr>
          <a:xfrm>
            <a:off x="4276725" y="2381250"/>
            <a:ext cx="1800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book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F983A3-1AEB-4FD2-84F6-D53373155BC8}"/>
              </a:ext>
            </a:extLst>
          </p:cNvPr>
          <p:cNvSpPr>
            <a:spLocks noGrp="1"/>
          </p:cNvSpPr>
          <p:nvPr/>
        </p:nvSpPr>
        <p:spPr>
          <a:xfrm>
            <a:off x="4276725" y="2733675"/>
            <a:ext cx="18002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图书信息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总库存 / 可借库存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02E83C4-9B66-4983-865C-7A2F73DEFF33}"/>
              </a:ext>
            </a:extLst>
          </p:cNvPr>
          <p:cNvSpPr>
            <a:spLocks noGrp="1"/>
          </p:cNvSpPr>
          <p:nvPr/>
        </p:nvSpPr>
        <p:spPr>
          <a:xfrm>
            <a:off x="6877050" y="21907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1B3BE5-79F4-4B08-949D-825553918E2F}"/>
              </a:ext>
            </a:extLst>
          </p:cNvPr>
          <p:cNvSpPr>
            <a:spLocks noGrp="1"/>
          </p:cNvSpPr>
          <p:nvPr/>
        </p:nvSpPr>
        <p:spPr>
          <a:xfrm>
            <a:off x="6991350" y="23812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borrow_record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F336FB-30D1-46ED-A569-B7323A9FAC60}"/>
              </a:ext>
            </a:extLst>
          </p:cNvPr>
          <p:cNvSpPr>
            <a:spLocks noGrp="1"/>
          </p:cNvSpPr>
          <p:nvPr/>
        </p:nvSpPr>
        <p:spPr>
          <a:xfrm>
            <a:off x="6991350" y="2733675"/>
            <a:ext cx="1752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借出 / 应还 / 归还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状态 / 备注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C2C36B5-E6AE-4469-AF76-C0707696D968}"/>
              </a:ext>
            </a:extLst>
          </p:cNvPr>
          <p:cNvSpPr>
            <a:spLocks noGrp="1"/>
          </p:cNvSpPr>
          <p:nvPr/>
        </p:nvSpPr>
        <p:spPr>
          <a:xfrm>
            <a:off x="9544050" y="2190750"/>
            <a:ext cx="2076450" cy="152400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D2D7776-8573-41B6-A5E4-70F2031AE726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reader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7C23BD-1DE9-4266-9977-C05F5D321320}"/>
              </a:ext>
            </a:extLst>
          </p:cNvPr>
          <p:cNvSpPr>
            <a:spLocks noGrp="1"/>
          </p:cNvSpPr>
          <p:nvPr/>
        </p:nvSpPr>
        <p:spPr>
          <a:xfrm>
            <a:off x="9658350" y="2733675"/>
            <a:ext cx="1847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读者档案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最大借阅数量</a:t>
            </a:r>
          </a:p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账户状态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C5F40D0-971D-453F-B608-ED3BA501160A}"/>
              </a:ext>
            </a:extLst>
          </p:cNvPr>
          <p:cNvSpPr>
            <a:spLocks noGrp="1"/>
          </p:cNvSpPr>
          <p:nvPr/>
        </p:nvSpPr>
        <p:spPr>
          <a:xfrm>
            <a:off x="4000500" y="4810125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FB1D00-5E04-4F4D-AEEB-7E227B193E80}"/>
              </a:ext>
            </a:extLst>
          </p:cNvPr>
          <p:cNvSpPr>
            <a:spLocks noGrp="1"/>
          </p:cNvSpPr>
          <p:nvPr/>
        </p:nvSpPr>
        <p:spPr>
          <a:xfrm>
            <a:off x="4114800" y="5000625"/>
            <a:ext cx="224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D074F7-1CDA-48EA-AFF0-E7856B3E4E6F}"/>
              </a:ext>
            </a:extLst>
          </p:cNvPr>
          <p:cNvSpPr>
            <a:spLocks noGrp="1"/>
          </p:cNvSpPr>
          <p:nvPr/>
        </p:nvSpPr>
        <p:spPr>
          <a:xfrm>
            <a:off x="4114800" y="5353050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账号维护 / 公告发布 / 操作人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53C16A4-5FC3-48D6-8C75-E0805DA1D0D6}"/>
              </a:ext>
            </a:extLst>
          </p:cNvPr>
          <p:cNvSpPr>
            <a:spLocks noGrp="1"/>
          </p:cNvSpPr>
          <p:nvPr/>
        </p:nvSpPr>
        <p:spPr>
          <a:xfrm>
            <a:off x="7143750" y="4810125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948EF3-49A3-454D-BE56-F338C79A0D20}"/>
              </a:ext>
            </a:extLst>
          </p:cNvPr>
          <p:cNvSpPr>
            <a:spLocks noGrp="1"/>
          </p:cNvSpPr>
          <p:nvPr/>
        </p:nvSpPr>
        <p:spPr>
          <a:xfrm>
            <a:off x="7258050" y="5000625"/>
            <a:ext cx="224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notice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CB21A3-F50E-4814-9D47-CBCA3AF79F57}"/>
              </a:ext>
            </a:extLst>
          </p:cNvPr>
          <p:cNvSpPr>
            <a:spLocks noGrp="1"/>
          </p:cNvSpPr>
          <p:nvPr/>
        </p:nvSpPr>
        <p:spPr>
          <a:xfrm>
            <a:off x="7258050" y="5353050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标题 / 内容 / 发布状态 / 时间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598720-4C41-4048-8B72-4B5D8906C931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外键与索引约束保证关联完整性；分类、图书、读者和借阅记录均可独立查询。</a:t>
            </a:r>
          </a:p>
        </p:txBody>
      </p:sp>
    </p:spTree>
    <p:extLst>
      <p:ext uri="{BB962C8B-B14F-4D97-AF65-F5344CB8AC3E}">
        <p14:creationId xmlns:p14="http://schemas.microsoft.com/office/powerpoint/2010/main" val="697568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707A78E-B2E4-410F-807D-F61654E0D0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059CF3-F421-43B8-A899-4BCB0858DB58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借阅业务通过事务保证“记录与库存”同步变化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9145BDF-9C90-422A-802E-016D930F5EB4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FBC3FA-4BED-433F-B644-693B9482BDD7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355014E-94C6-4178-AC6A-FF08CE3F1A44}"/>
              </a:ext>
            </a:extLst>
          </p:cNvPr>
          <p:cNvSpPr>
            <a:spLocks noGrp="1"/>
          </p:cNvSpPr>
          <p:nvPr/>
        </p:nvSpPr>
        <p:spPr>
          <a:xfrm>
            <a:off x="2381250" y="3000375"/>
            <a:ext cx="400050" cy="1905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1B690A5-8FED-4843-B38E-A9DC2F601061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1809750" cy="209550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5B7FFF8-9806-444E-A3AC-78ECAA02BF21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438150" cy="4381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A81C9D-321C-42C5-A0F2-F1784334E602}"/>
              </a:ext>
            </a:extLst>
          </p:cNvPr>
          <p:cNvSpPr>
            <a:spLocks noGrp="1"/>
          </p:cNvSpPr>
          <p:nvPr/>
        </p:nvSpPr>
        <p:spPr>
          <a:xfrm>
            <a:off x="1257300" y="27146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16CF3B-32EA-41A8-A956-CBADD742A1FD}"/>
              </a:ext>
            </a:extLst>
          </p:cNvPr>
          <p:cNvSpPr>
            <a:spLocks noGrp="1"/>
          </p:cNvSpPr>
          <p:nvPr/>
        </p:nvSpPr>
        <p:spPr>
          <a:xfrm>
            <a:off x="742950" y="32670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选择图书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7B2304-3023-4B30-B229-31734A473433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仅展示可借库存大于 0 的图书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D60F55B-8507-468A-A675-4A089E9AE54F}"/>
              </a:ext>
            </a:extLst>
          </p:cNvPr>
          <p:cNvSpPr>
            <a:spLocks noGrp="1"/>
          </p:cNvSpPr>
          <p:nvPr/>
        </p:nvSpPr>
        <p:spPr>
          <a:xfrm>
            <a:off x="4629150" y="3000375"/>
            <a:ext cx="400050" cy="1905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BC60C50-4D11-4086-8F26-E51D7C967E1A}"/>
              </a:ext>
            </a:extLst>
          </p:cNvPr>
          <p:cNvSpPr>
            <a:spLocks noGrp="1"/>
          </p:cNvSpPr>
          <p:nvPr/>
        </p:nvSpPr>
        <p:spPr>
          <a:xfrm>
            <a:off x="2819400" y="2381250"/>
            <a:ext cx="1809750" cy="209550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BAFAA99-DB16-4BB4-95C1-E39485B474F1}"/>
              </a:ext>
            </a:extLst>
          </p:cNvPr>
          <p:cNvSpPr>
            <a:spLocks noGrp="1"/>
          </p:cNvSpPr>
          <p:nvPr/>
        </p:nvSpPr>
        <p:spPr>
          <a:xfrm>
            <a:off x="3505200" y="2609850"/>
            <a:ext cx="438150" cy="4381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14B856-8128-4A3E-9F1D-C1669D85ED72}"/>
              </a:ext>
            </a:extLst>
          </p:cNvPr>
          <p:cNvSpPr>
            <a:spLocks noGrp="1"/>
          </p:cNvSpPr>
          <p:nvPr/>
        </p:nvSpPr>
        <p:spPr>
          <a:xfrm>
            <a:off x="3505200" y="27146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A15960-FCA9-45AA-9059-1A9024FB9761}"/>
              </a:ext>
            </a:extLst>
          </p:cNvPr>
          <p:cNvSpPr>
            <a:spLocks noGrp="1"/>
          </p:cNvSpPr>
          <p:nvPr/>
        </p:nvSpPr>
        <p:spPr>
          <a:xfrm>
            <a:off x="2990850" y="32670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设置数量与天数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8008DD-5FD3-485B-A6C8-D2B184F7AEBE}"/>
              </a:ext>
            </a:extLst>
          </p:cNvPr>
          <p:cNvSpPr>
            <a:spLocks noGrp="1"/>
          </p:cNvSpPr>
          <p:nvPr/>
        </p:nvSpPr>
        <p:spPr>
          <a:xfrm>
            <a:off x="2990850" y="371475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校验数量、借阅上限与最长 90 天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17D01C5C-FC85-4D73-ADCE-D52F186FBEB1}"/>
              </a:ext>
            </a:extLst>
          </p:cNvPr>
          <p:cNvSpPr>
            <a:spLocks noGrp="1"/>
          </p:cNvSpPr>
          <p:nvPr/>
        </p:nvSpPr>
        <p:spPr>
          <a:xfrm>
            <a:off x="6877050" y="3000375"/>
            <a:ext cx="400050" cy="1905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963CDA8-6031-4885-BCAE-A15E4DF8D1C9}"/>
              </a:ext>
            </a:extLst>
          </p:cNvPr>
          <p:cNvSpPr>
            <a:spLocks noGrp="1"/>
          </p:cNvSpPr>
          <p:nvPr/>
        </p:nvSpPr>
        <p:spPr>
          <a:xfrm>
            <a:off x="5067300" y="2381250"/>
            <a:ext cx="1809750" cy="209550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8C9D2BE-9B64-4972-B87E-1CAC2C403431}"/>
              </a:ext>
            </a:extLst>
          </p:cNvPr>
          <p:cNvSpPr>
            <a:spLocks noGrp="1"/>
          </p:cNvSpPr>
          <p:nvPr/>
        </p:nvSpPr>
        <p:spPr>
          <a:xfrm>
            <a:off x="5753100" y="2609850"/>
            <a:ext cx="438150" cy="4381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77A964-2541-45CF-83F1-4A9076651E92}"/>
              </a:ext>
            </a:extLst>
          </p:cNvPr>
          <p:cNvSpPr>
            <a:spLocks noGrp="1"/>
          </p:cNvSpPr>
          <p:nvPr/>
        </p:nvSpPr>
        <p:spPr>
          <a:xfrm>
            <a:off x="5753100" y="27146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B583F7-3C02-4BA0-BEAC-4C75EAA3BAFD}"/>
              </a:ext>
            </a:extLst>
          </p:cNvPr>
          <p:cNvSpPr>
            <a:spLocks noGrp="1"/>
          </p:cNvSpPr>
          <p:nvPr/>
        </p:nvSpPr>
        <p:spPr>
          <a:xfrm>
            <a:off x="5238750" y="32670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后端校验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B2C21B-D97F-4570-968F-82159A82CEAA}"/>
              </a:ext>
            </a:extLst>
          </p:cNvPr>
          <p:cNvSpPr>
            <a:spLocks noGrp="1"/>
          </p:cNvSpPr>
          <p:nvPr/>
        </p:nvSpPr>
        <p:spPr>
          <a:xfrm>
            <a:off x="5238750" y="371475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确认读者身份、账户状态与实时库存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3EF416D5-1261-4A4A-AFBF-65DE06B76DE8}"/>
              </a:ext>
            </a:extLst>
          </p:cNvPr>
          <p:cNvSpPr>
            <a:spLocks noGrp="1"/>
          </p:cNvSpPr>
          <p:nvPr/>
        </p:nvSpPr>
        <p:spPr>
          <a:xfrm>
            <a:off x="9124950" y="3000375"/>
            <a:ext cx="400050" cy="190500"/>
          </a:xfrm>
          <a:prstGeom prst="rightArrow">
            <a:avLst/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5B95EAF-5695-477A-B6BD-A5D6FFC72F0A}"/>
              </a:ext>
            </a:extLst>
          </p:cNvPr>
          <p:cNvSpPr>
            <a:spLocks noGrp="1"/>
          </p:cNvSpPr>
          <p:nvPr/>
        </p:nvSpPr>
        <p:spPr>
          <a:xfrm>
            <a:off x="7315200" y="2381250"/>
            <a:ext cx="1809750" cy="209550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9A8DC86-D253-4674-B610-DF0AAC4FF4F7}"/>
              </a:ext>
            </a:extLst>
          </p:cNvPr>
          <p:cNvSpPr>
            <a:spLocks noGrp="1"/>
          </p:cNvSpPr>
          <p:nvPr/>
        </p:nvSpPr>
        <p:spPr>
          <a:xfrm>
            <a:off x="8001000" y="2609850"/>
            <a:ext cx="438150" cy="4381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CDE789-1123-4783-B4E1-7D70AC371F89}"/>
              </a:ext>
            </a:extLst>
          </p:cNvPr>
          <p:cNvSpPr>
            <a:spLocks noGrp="1"/>
          </p:cNvSpPr>
          <p:nvPr/>
        </p:nvSpPr>
        <p:spPr>
          <a:xfrm>
            <a:off x="8001000" y="27146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B8335A-D65C-4FEA-9204-C4F8FDB2C126}"/>
              </a:ext>
            </a:extLst>
          </p:cNvPr>
          <p:cNvSpPr>
            <a:spLocks noGrp="1"/>
          </p:cNvSpPr>
          <p:nvPr/>
        </p:nvSpPr>
        <p:spPr>
          <a:xfrm>
            <a:off x="7486650" y="32670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事务写入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33D8C79-7FD9-44AB-B7FA-E9B0162F09AE}"/>
              </a:ext>
            </a:extLst>
          </p:cNvPr>
          <p:cNvSpPr>
            <a:spLocks noGrp="1"/>
          </p:cNvSpPr>
          <p:nvPr/>
        </p:nvSpPr>
        <p:spPr>
          <a:xfrm>
            <a:off x="7486650" y="371475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生成借阅记录并扣减可借库存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51E33C5-5B68-46D0-B9C8-2C23819512B3}"/>
              </a:ext>
            </a:extLst>
          </p:cNvPr>
          <p:cNvSpPr>
            <a:spLocks noGrp="1"/>
          </p:cNvSpPr>
          <p:nvPr/>
        </p:nvSpPr>
        <p:spPr>
          <a:xfrm>
            <a:off x="9563100" y="2381250"/>
            <a:ext cx="1809750" cy="209550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F80E7E3-F212-4834-B579-968C74ED57B1}"/>
              </a:ext>
            </a:extLst>
          </p:cNvPr>
          <p:cNvSpPr>
            <a:spLocks noGrp="1"/>
          </p:cNvSpPr>
          <p:nvPr/>
        </p:nvSpPr>
        <p:spPr>
          <a:xfrm>
            <a:off x="10248900" y="2609850"/>
            <a:ext cx="438150" cy="4381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8F8889-EF1A-4B90-9084-A68B7CA7167B}"/>
              </a:ext>
            </a:extLst>
          </p:cNvPr>
          <p:cNvSpPr>
            <a:spLocks noGrp="1"/>
          </p:cNvSpPr>
          <p:nvPr/>
        </p:nvSpPr>
        <p:spPr>
          <a:xfrm>
            <a:off x="10248900" y="271462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D8E61B7-327E-4C72-811B-76F831DF66D6}"/>
              </a:ext>
            </a:extLst>
          </p:cNvPr>
          <p:cNvSpPr>
            <a:spLocks noGrp="1"/>
          </p:cNvSpPr>
          <p:nvPr/>
        </p:nvSpPr>
        <p:spPr>
          <a:xfrm>
            <a:off x="9734550" y="32670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归还联动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8F05CF-6C49-45CE-A549-4D57A6FE45F8}"/>
              </a:ext>
            </a:extLst>
          </p:cNvPr>
          <p:cNvSpPr>
            <a:spLocks noGrp="1"/>
          </p:cNvSpPr>
          <p:nvPr/>
        </p:nvSpPr>
        <p:spPr>
          <a:xfrm>
            <a:off x="9734550" y="371475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更新记录状态并恢复可借库存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343399-4500-48F0-95CA-7EB652E4F86F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出现库存不足、超过借阅上限或记录写入失败时，事务回滚，避免库存与借阅记录不一致。</a:t>
            </a:r>
          </a:p>
        </p:txBody>
      </p:sp>
    </p:spTree>
    <p:extLst>
      <p:ext uri="{BB962C8B-B14F-4D97-AF65-F5344CB8AC3E}">
        <p14:creationId xmlns:p14="http://schemas.microsoft.com/office/powerpoint/2010/main" val="201951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9DAB968-908F-478B-96B2-2767914028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A19471-F1E3-47A4-AB04-F268CFEFF53F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DeepSeek API 让系统从“管理记录”延伸到“辅助决策”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21B4EE2-E6AC-46B1-88BB-B0E82861C4F9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E4814B-2054-4C55-974B-12A771B83375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52F76E-C871-4581-8A3C-B67EDD3F893F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4762500" cy="257175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730FDA0-AACC-4690-BB76-69AB704EC12B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66675" cy="2571750"/>
          </a:xfrm>
          <a:prstGeom prst="roundRect">
            <a:avLst>
              <a:gd name="adj" fmla="val 28571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4BE0ED-907E-422D-AAC2-EF00DF84364A}"/>
              </a:ext>
            </a:extLst>
          </p:cNvPr>
          <p:cNvSpPr>
            <a:spLocks noGrp="1"/>
          </p:cNvSpPr>
          <p:nvPr/>
        </p:nvSpPr>
        <p:spPr>
          <a:xfrm>
            <a:off x="800100" y="2257425"/>
            <a:ext cx="430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读者侧：个性化借阅建议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77CC53-26C3-48CD-A51A-FE548CD6AE99}"/>
              </a:ext>
            </a:extLst>
          </p:cNvPr>
          <p:cNvSpPr>
            <a:spLocks noGrp="1"/>
          </p:cNvSpPr>
          <p:nvPr/>
        </p:nvSpPr>
        <p:spPr>
          <a:xfrm>
            <a:off x="800100" y="2695575"/>
            <a:ext cx="430530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输入：读者兴趣、已借记录或咨询问题。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输出：适合的图书方向、阅读建议和借阅推荐。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价值：降低读者选书成本。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DCA099B-C405-4040-9BC8-E29B36FED1E8}"/>
              </a:ext>
            </a:extLst>
          </p:cNvPr>
          <p:cNvSpPr>
            <a:spLocks noGrp="1"/>
          </p:cNvSpPr>
          <p:nvPr/>
        </p:nvSpPr>
        <p:spPr>
          <a:xfrm>
            <a:off x="6858000" y="2047875"/>
            <a:ext cx="4762500" cy="257175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3C43482-60CB-4738-8D50-6835AA9E3BD3}"/>
              </a:ext>
            </a:extLst>
          </p:cNvPr>
          <p:cNvSpPr>
            <a:spLocks noGrp="1"/>
          </p:cNvSpPr>
          <p:nvPr/>
        </p:nvSpPr>
        <p:spPr>
          <a:xfrm>
            <a:off x="6858000" y="2047875"/>
            <a:ext cx="66675" cy="2571750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E27CCA-362A-43F6-B40A-9873C125B9E1}"/>
              </a:ext>
            </a:extLst>
          </p:cNvPr>
          <p:cNvSpPr>
            <a:spLocks noGrp="1"/>
          </p:cNvSpPr>
          <p:nvPr/>
        </p:nvSpPr>
        <p:spPr>
          <a:xfrm>
            <a:off x="7086600" y="2257425"/>
            <a:ext cx="430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管理员侧：运营与库存建议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1ABFC2-C65E-42C1-A53B-833135336486}"/>
              </a:ext>
            </a:extLst>
          </p:cNvPr>
          <p:cNvSpPr>
            <a:spLocks noGrp="1"/>
          </p:cNvSpPr>
          <p:nvPr/>
        </p:nvSpPr>
        <p:spPr>
          <a:xfrm>
            <a:off x="7086600" y="2695575"/>
            <a:ext cx="430530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输入：库存状态、分类统计与管理问题。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输出：补充库存、优化分类和公告运营建议。</a:t>
            </a:r>
          </a:p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价值：辅助图书馆日常管理。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15B8AA1-933F-415F-B4A6-F63D9D701145}"/>
              </a:ext>
            </a:extLst>
          </p:cNvPr>
          <p:cNvSpPr>
            <a:spLocks noGrp="1"/>
          </p:cNvSpPr>
          <p:nvPr/>
        </p:nvSpPr>
        <p:spPr>
          <a:xfrm>
            <a:off x="3429000" y="5191125"/>
            <a:ext cx="5334000" cy="619125"/>
          </a:xfrm>
          <a:prstGeom prst="roundRect">
            <a:avLst>
              <a:gd name="adj" fmla="val 18462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004546-B428-4B20-A47B-F8CDC6051F36}"/>
              </a:ext>
            </a:extLst>
          </p:cNvPr>
          <p:cNvSpPr>
            <a:spLocks noGrp="1"/>
          </p:cNvSpPr>
          <p:nvPr/>
        </p:nvSpPr>
        <p:spPr>
          <a:xfrm>
            <a:off x="3714750" y="53816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847" lnSpcReduction="10000"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后端统一封装 API 调用，配置超时与异常捕获，避免外部服务异常影响核心业务。</a:t>
            </a:r>
          </a:p>
        </p:txBody>
      </p:sp>
    </p:spTree>
    <p:extLst>
      <p:ext uri="{BB962C8B-B14F-4D97-AF65-F5344CB8AC3E}">
        <p14:creationId xmlns:p14="http://schemas.microsoft.com/office/powerpoint/2010/main" val="78987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2FBFED-8C75-4F12-B0DD-7673CDA89F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08488F-9B95-44A4-A0E4-AC2897DA77B2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图书管理、分类管理、读者端展示</a:t>
            </a:r>
            <a:endParaRPr sz="300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3323D83-5BC7-42D9-9CDD-401C5F838073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E68626-192C-4F4E-8DB4-93C70215F5B3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7A0860-1D88-4D5A-A637-C6806D2AAEDE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627E43-7466-46A5-A292-498DA2492374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AFEB35-C109-46EB-A4B0-9250ABD3C47F}"/>
              </a:ext>
            </a:extLst>
          </p:cNvPr>
          <p:cNvSpPr>
            <a:spLocks noGrp="1"/>
          </p:cNvSpPr>
          <p:nvPr/>
        </p:nvSpPr>
        <p:spPr>
          <a:xfrm>
            <a:off x="571500" y="380047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293193-7599-4665-A5A3-4238AFCA8E8A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</p:spTree>
    <p:extLst>
      <p:ext uri="{BB962C8B-B14F-4D97-AF65-F5344CB8AC3E}">
        <p14:creationId xmlns:p14="http://schemas.microsoft.com/office/powerpoint/2010/main" val="683362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2FBFED-8C75-4F12-B0DD-7673CDA89F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08488F-9B95-44A4-A0E4-AC2897DA77B2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公告管理，借阅管理相关展示</a:t>
            </a:r>
            <a:endParaRPr sz="300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3323D83-5BC7-42D9-9CDD-401C5F838073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E68626-192C-4F4E-8DB4-93C70215F5B3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7A0860-1D88-4D5A-A637-C6806D2AAEDE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627E43-7466-46A5-A292-498DA2492374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AFEB35-C109-46EB-A4B0-9250ABD3C47F}"/>
              </a:ext>
            </a:extLst>
          </p:cNvPr>
          <p:cNvSpPr>
            <a:spLocks noGrp="1"/>
          </p:cNvSpPr>
          <p:nvPr/>
        </p:nvSpPr>
        <p:spPr>
          <a:xfrm>
            <a:off x="571500" y="380047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293193-7599-4665-A5A3-4238AFCA8E8A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</p:spTree>
    <p:extLst>
      <p:ext uri="{BB962C8B-B14F-4D97-AF65-F5344CB8AC3E}">
        <p14:creationId xmlns:p14="http://schemas.microsoft.com/office/powerpoint/2010/main" val="2963813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2FBFED-8C75-4F12-B0DD-7673CDA89F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08488F-9B95-44A4-A0E4-AC2897DA77B2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统计分析、</a:t>
            </a:r>
            <a:r>
              <a:rPr lang="en-US" altLang="zh-CN" sz="30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lang="zh-CN" altLang="en-US"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小助手展示</a:t>
            </a:r>
            <a:endParaRPr sz="300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3323D83-5BC7-42D9-9CDD-401C5F838073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9525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E68626-192C-4F4E-8DB4-93C70215F5B3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7A0860-1D88-4D5A-A637-C6806D2AAEDE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627E43-7466-46A5-A292-498DA2492374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AFEB35-C109-46EB-A4B0-9250ABD3C47F}"/>
              </a:ext>
            </a:extLst>
          </p:cNvPr>
          <p:cNvSpPr>
            <a:spLocks noGrp="1"/>
          </p:cNvSpPr>
          <p:nvPr/>
        </p:nvSpPr>
        <p:spPr>
          <a:xfrm>
            <a:off x="571500" y="380047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293193-7599-4665-A5A3-4238AFCA8E8A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</p:spTree>
    <p:extLst>
      <p:ext uri="{BB962C8B-B14F-4D97-AF65-F5344CB8AC3E}">
        <p14:creationId xmlns:p14="http://schemas.microsoft.com/office/powerpoint/2010/main" val="2921428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12E7A35C-178E-4374-8D1E-EBCD179C62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1B3C83-BEFE-41CB-B192-2D155E733A8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答辩总结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F09294-1CA3-4777-B981-78E961717C4E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8382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完成从数据管理到智能建议的</a:t>
            </a:r>
          </a:p>
          <a:p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前后端分离图书管理系统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4DDE12-ACBD-4439-A263-32EE983430A6}"/>
              </a:ext>
            </a:extLst>
          </p:cNvPr>
          <p:cNvSpPr>
            <a:spLocks noGrp="1"/>
          </p:cNvSpPr>
          <p:nvPr/>
        </p:nvSpPr>
        <p:spPr>
          <a:xfrm>
            <a:off x="723900" y="38576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关键能力：角色权限 · 借阅库存联动 · 分类统计 · DeepSeek AI · Maven / Git 工程化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A4FAFC-C8AB-42AF-910B-1DFAABE8B057}"/>
              </a:ext>
            </a:extLst>
          </p:cNvPr>
          <p:cNvSpPr>
            <a:spLocks noGrp="1"/>
          </p:cNvSpPr>
          <p:nvPr/>
        </p:nvSpPr>
        <p:spPr>
          <a:xfrm>
            <a:off x="714375" y="4762500"/>
            <a:ext cx="6334125" cy="666750"/>
          </a:xfrm>
          <a:prstGeom prst="roundRect">
            <a:avLst>
              <a:gd name="adj" fmla="val 17143"/>
            </a:avLst>
          </a:prstGeom>
          <a:solidFill>
            <a:srgbClr val="172554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D9B2B0-0E96-407D-BFC0-7723D0AB17F7}"/>
              </a:ext>
            </a:extLst>
          </p:cNvPr>
          <p:cNvSpPr>
            <a:spLocks noGrp="1"/>
          </p:cNvSpPr>
          <p:nvPr/>
        </p:nvSpPr>
        <p:spPr>
          <a:xfrm>
            <a:off x="952500" y="4972050"/>
            <a:ext cx="5857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演示顺序：登录 → 管理端维护 → 读者借阅 → 统计分析 → AI 咨询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FD6D45-2938-4BC6-A674-A74983230000}"/>
              </a:ext>
            </a:extLst>
          </p:cNvPr>
          <p:cNvSpPr>
            <a:spLocks noGrp="1"/>
          </p:cNvSpPr>
          <p:nvPr/>
        </p:nvSpPr>
        <p:spPr>
          <a:xfrm>
            <a:off x="714375" y="595312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769651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571</Words>
  <Application>Microsoft Office PowerPoint</Application>
  <DocSecurity>0</DocSecurity>
  <PresentationFormat>宽屏</PresentationFormat>
  <Paragraphs>196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3</cp:revision>
  <dcterms:created xsi:type="dcterms:W3CDTF">2026-07-23T18:56:23Z</dcterms:created>
  <dcterms:modified xsi:type="dcterms:W3CDTF">2026-07-24T01:17:28Z</dcterms:modified>
</cp:coreProperties>
</file>